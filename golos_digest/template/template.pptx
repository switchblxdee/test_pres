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4"/>
  </p:notesMasterIdLst>
  <p:sldIdLst>
    <p:sldId id="2078" r:id="rId2"/>
    <p:sldId id="2081" r:id="rId3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Вступление" id="{0EACFB6B-6DB0-6D4C-A122-B36C9D3153D4}">
          <p14:sldIdLst>
            <p14:sldId id="2078"/>
            <p14:sldId id="2081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4088" userDrawn="1">
          <p15:clr>
            <a:srgbClr val="A4A3A4"/>
          </p15:clr>
        </p15:guide>
        <p15:guide id="6" pos="3840">
          <p15:clr>
            <a:srgbClr val="A4A3A4"/>
          </p15:clr>
        </p15:guide>
        <p15:guide id="7" pos="370" userDrawn="1">
          <p15:clr>
            <a:srgbClr val="A4A3A4"/>
          </p15:clr>
        </p15:guide>
        <p15:guide id="8" orient="horz" pos="504" userDrawn="1">
          <p15:clr>
            <a:srgbClr val="A4A3A4"/>
          </p15:clr>
        </p15:guide>
        <p15:guide id="9" pos="4861" userDrawn="1">
          <p15:clr>
            <a:srgbClr val="A4A3A4"/>
          </p15:clr>
        </p15:guide>
        <p15:guide id="10" pos="4951" userDrawn="1">
          <p15:clr>
            <a:srgbClr val="A4A3A4"/>
          </p15:clr>
        </p15:guide>
        <p15:guide id="11" pos="6176" userDrawn="1">
          <p15:clr>
            <a:srgbClr val="A4A3A4"/>
          </p15:clr>
        </p15:guide>
        <p15:guide id="12" pos="6267" userDrawn="1">
          <p15:clr>
            <a:srgbClr val="A4A3A4"/>
          </p15:clr>
        </p15:guide>
        <p15:guide id="13" pos="529" userDrawn="1">
          <p15:clr>
            <a:srgbClr val="A4A3A4"/>
          </p15:clr>
        </p15:guide>
        <p15:guide id="14" pos="619" userDrawn="1">
          <p15:clr>
            <a:srgbClr val="A4A3A4"/>
          </p15:clr>
        </p15:guide>
        <p15:guide id="15" orient="horz" pos="14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58AFF"/>
    <a:srgbClr val="2F4A80"/>
    <a:srgbClr val="FD484A"/>
    <a:srgbClr val="00BC51"/>
    <a:srgbClr val="000022"/>
    <a:srgbClr val="0669E0"/>
    <a:srgbClr val="F6F7FC"/>
    <a:srgbClr val="FF3C8A"/>
    <a:srgbClr val="04DC0A"/>
    <a:srgbClr val="FF2F9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573"/>
    <p:restoredTop sz="96743"/>
  </p:normalViewPr>
  <p:slideViewPr>
    <p:cSldViewPr snapToGrid="0" showGuides="1">
      <p:cViewPr varScale="1">
        <p:scale>
          <a:sx n="93" d="100"/>
          <a:sy n="93" d="100"/>
        </p:scale>
        <p:origin x="341" y="67"/>
      </p:cViewPr>
      <p:guideLst>
        <p:guide orient="horz" pos="4088"/>
        <p:guide pos="3840"/>
        <p:guide pos="370"/>
        <p:guide orient="horz" pos="504"/>
        <p:guide pos="4861"/>
        <p:guide pos="4951"/>
        <p:guide pos="6176"/>
        <p:guide pos="6267"/>
        <p:guide pos="529"/>
        <p:guide pos="619"/>
        <p:guide orient="horz" pos="14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9FEB100-E888-FB43-9680-CE96EB937FD4}" type="datetimeFigureOut">
              <a:rPr lang="ru-RU" smtClean="0"/>
              <a:t>21.10.2026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C26C940-1076-CC4E-A90B-FF7E5F4984C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047804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57990744-DBDA-F854-D847-55F466CFEE6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6488" y="0"/>
            <a:ext cx="12198488" cy="6858000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612990B-8E68-E9DF-EECF-6A1ECD391D4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69925" y="3429001"/>
            <a:ext cx="8813671" cy="2189480"/>
          </a:xfrm>
        </p:spPr>
        <p:txBody>
          <a:bodyPr lIns="72000" anchor="b"/>
          <a:lstStyle>
            <a:lvl1pPr algn="l">
              <a:defRPr sz="540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11" name="Подзаголовок 2">
            <a:extLst>
              <a:ext uri="{FF2B5EF4-FFF2-40B4-BE49-F238E27FC236}">
                <a16:creationId xmlns:a16="http://schemas.microsoft.com/office/drawing/2014/main" id="{0CB1F640-F323-449E-0D3D-18DED981421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69925" y="5677178"/>
            <a:ext cx="8813671" cy="411162"/>
          </a:xfrm>
        </p:spPr>
        <p:txBody>
          <a:bodyPr lIns="108000"/>
          <a:lstStyle>
            <a:lvl1pPr marL="0" indent="0" algn="l">
              <a:buNone/>
              <a:defRPr sz="2000" b="0" i="0">
                <a:solidFill>
                  <a:schemeClr val="bg1"/>
                </a:solidFill>
                <a:latin typeface="SB Sans Display" panose="020B0503040504020204" pitchFamily="34" charset="0"/>
                <a:cs typeface="SB Sans Display" panose="020B0503040504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397415481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C71B811F-92F4-286E-08DA-4EE24CB1552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617" t="7117" r="6948"/>
          <a:stretch>
            <a:fillRect/>
          </a:stretch>
        </p:blipFill>
        <p:spPr>
          <a:xfrm>
            <a:off x="-44147" y="-1"/>
            <a:ext cx="12236147" cy="6912575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612990B-8E68-E9DF-EECF-6A1ECD391D4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69925" y="3429001"/>
            <a:ext cx="8813671" cy="2189480"/>
          </a:xfrm>
        </p:spPr>
        <p:txBody>
          <a:bodyPr lIns="72000" anchor="b"/>
          <a:lstStyle>
            <a:lvl1pPr algn="l">
              <a:defRPr sz="540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11" name="Подзаголовок 2">
            <a:extLst>
              <a:ext uri="{FF2B5EF4-FFF2-40B4-BE49-F238E27FC236}">
                <a16:creationId xmlns:a16="http://schemas.microsoft.com/office/drawing/2014/main" id="{0CB1F640-F323-449E-0D3D-18DED981421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69925" y="5677178"/>
            <a:ext cx="8813671" cy="411162"/>
          </a:xfrm>
        </p:spPr>
        <p:txBody>
          <a:bodyPr lIns="108000"/>
          <a:lstStyle>
            <a:lvl1pPr marL="0" indent="0" algn="l">
              <a:buNone/>
              <a:defRPr sz="2000" b="0" i="0">
                <a:solidFill>
                  <a:schemeClr val="bg1"/>
                </a:solidFill>
                <a:latin typeface="SB Sans Display" panose="020B0503040504020204" pitchFamily="34" charset="0"/>
                <a:cs typeface="SB Sans Display" panose="020B0503040504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334551819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2AD3B8BF-199F-0C7B-DF3F-6852DC2595A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t="4633" r="6314" b="1630"/>
          <a:stretch>
            <a:fillRect/>
          </a:stretch>
        </p:blipFill>
        <p:spPr>
          <a:xfrm>
            <a:off x="-1" y="0"/>
            <a:ext cx="12192001" cy="6858000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612990B-8E68-E9DF-EECF-6A1ECD391D4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69925" y="3429001"/>
            <a:ext cx="8813671" cy="2189480"/>
          </a:xfrm>
        </p:spPr>
        <p:txBody>
          <a:bodyPr lIns="72000" anchor="b"/>
          <a:lstStyle>
            <a:lvl1pPr algn="l">
              <a:defRPr sz="540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11" name="Подзаголовок 2">
            <a:extLst>
              <a:ext uri="{FF2B5EF4-FFF2-40B4-BE49-F238E27FC236}">
                <a16:creationId xmlns:a16="http://schemas.microsoft.com/office/drawing/2014/main" id="{0CB1F640-F323-449E-0D3D-18DED981421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69925" y="5677178"/>
            <a:ext cx="8813671" cy="411162"/>
          </a:xfrm>
        </p:spPr>
        <p:txBody>
          <a:bodyPr lIns="108000"/>
          <a:lstStyle>
            <a:lvl1pPr marL="0" indent="0" algn="l">
              <a:buNone/>
              <a:defRPr sz="2000" b="0" i="0">
                <a:solidFill>
                  <a:schemeClr val="bg1"/>
                </a:solidFill>
                <a:latin typeface="SB Sans Display" panose="020B0503040504020204" pitchFamily="34" charset="0"/>
                <a:cs typeface="SB Sans Display" panose="020B0503040504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88848131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612990B-8E68-E9DF-EECF-6A1ECD391D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34963" y="225425"/>
            <a:ext cx="11522075" cy="495935"/>
          </a:xfrm>
        </p:spPr>
        <p:txBody>
          <a:bodyPr lIns="0" anchor="t">
            <a:spAutoFit/>
          </a:bodyPr>
          <a:lstStyle>
            <a:lvl1pPr algn="l">
              <a:defRPr sz="2800"/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BD9C5D0-F2F1-ECBC-52C1-79FF381B41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53800" y="6405372"/>
            <a:ext cx="503238" cy="365125"/>
          </a:xfrm>
        </p:spPr>
        <p:txBody>
          <a:bodyPr/>
          <a:lstStyle>
            <a:lvl1pPr>
              <a:defRPr sz="1000" b="0" i="0">
                <a:latin typeface="SB Sans Display Light" panose="020B0303040504020204" pitchFamily="34" charset="0"/>
                <a:cs typeface="SB Sans Display Light" panose="020B0303040504020204" pitchFamily="34" charset="0"/>
              </a:defRPr>
            </a:lvl1pPr>
          </a:lstStyle>
          <a:p>
            <a:fld id="{CEE01B13-6A4D-3E45-ABFA-8527F4FEE809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7" name="Подзаголовок 2">
            <a:extLst>
              <a:ext uri="{FF2B5EF4-FFF2-40B4-BE49-F238E27FC236}">
                <a16:creationId xmlns:a16="http://schemas.microsoft.com/office/drawing/2014/main" id="{4D749C82-C851-3B88-0F43-B7C1BEDB83D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34963" y="755206"/>
            <a:ext cx="11522075" cy="433965"/>
          </a:xfrm>
        </p:spPr>
        <p:txBody>
          <a:bodyPr lIns="0">
            <a:spAutoFit/>
          </a:bodyPr>
          <a:lstStyle>
            <a:lvl1pPr marL="0" indent="0" algn="l">
              <a:buNone/>
              <a:defRPr sz="2400" b="0" i="0">
                <a:solidFill>
                  <a:schemeClr val="bg1">
                    <a:lumMod val="50000"/>
                  </a:schemeClr>
                </a:solidFill>
                <a:latin typeface="SB Sans Display Light" panose="020B0303040504020204" pitchFamily="34" charset="0"/>
                <a:cs typeface="SB Sans Display Light" panose="020B0303040504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dirty="0"/>
              <a:t>Образец подзаголовка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151010608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612990B-8E68-E9DF-EECF-6A1ECD391D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34963" y="225425"/>
            <a:ext cx="11522075" cy="490904"/>
          </a:xfrm>
        </p:spPr>
        <p:txBody>
          <a:bodyPr wrap="square" lIns="36000" anchor="t">
            <a:spAutoFit/>
          </a:bodyPr>
          <a:lstStyle>
            <a:lvl1pPr algn="l">
              <a:defRPr sz="2800"/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BD9C5D0-F2F1-ECBC-52C1-79FF381B41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53800" y="6405372"/>
            <a:ext cx="503238" cy="365125"/>
          </a:xfrm>
        </p:spPr>
        <p:txBody>
          <a:bodyPr/>
          <a:lstStyle>
            <a:lvl1pPr>
              <a:defRPr sz="1000" b="0" i="0">
                <a:latin typeface="SB Sans Display Light" panose="020B0303040504020204" pitchFamily="34" charset="0"/>
                <a:cs typeface="SB Sans Display Light" panose="020B0303040504020204" pitchFamily="34" charset="0"/>
              </a:defRPr>
            </a:lvl1pPr>
          </a:lstStyle>
          <a:p>
            <a:fld id="{CEE01B13-6A4D-3E45-ABFA-8527F4FEE809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95410547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Титульный слайд">
    <p:bg>
      <p:bgPr>
        <a:solidFill>
          <a:srgbClr val="F6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612990B-8E68-E9DF-EECF-6A1ECD391D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34963" y="225425"/>
            <a:ext cx="11522075" cy="495935"/>
          </a:xfrm>
        </p:spPr>
        <p:txBody>
          <a:bodyPr lIns="0" anchor="t">
            <a:spAutoFit/>
          </a:bodyPr>
          <a:lstStyle>
            <a:lvl1pPr algn="l">
              <a:defRPr sz="2800"/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BD9C5D0-F2F1-ECBC-52C1-79FF381B41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53800" y="6405372"/>
            <a:ext cx="503238" cy="365125"/>
          </a:xfrm>
        </p:spPr>
        <p:txBody>
          <a:bodyPr/>
          <a:lstStyle>
            <a:lvl1pPr>
              <a:defRPr sz="1000" b="0" i="0">
                <a:latin typeface="SB Sans Display Light" panose="020B0303040504020204" pitchFamily="34" charset="0"/>
                <a:cs typeface="SB Sans Display Light" panose="020B0303040504020204" pitchFamily="34" charset="0"/>
              </a:defRPr>
            </a:lvl1pPr>
          </a:lstStyle>
          <a:p>
            <a:fld id="{CEE01B13-6A4D-3E45-ABFA-8527F4FEE809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736177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596734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9_Титульный слайд">
    <p:bg>
      <p:bgPr>
        <a:solidFill>
          <a:srgbClr val="358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2">
            <a:extLst>
              <a:ext uri="{FF2B5EF4-FFF2-40B4-BE49-F238E27FC236}">
                <a16:creationId xmlns:a16="http://schemas.microsoft.com/office/drawing/2014/main" id="{D81772D3-61C8-0AA2-14B9-796EEC9B37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53800" y="6405372"/>
            <a:ext cx="503238" cy="365125"/>
          </a:xfrm>
        </p:spPr>
        <p:txBody>
          <a:bodyPr/>
          <a:lstStyle>
            <a:lvl1pPr>
              <a:defRPr b="0" i="0">
                <a:solidFill>
                  <a:schemeClr val="bg1"/>
                </a:solidFill>
                <a:latin typeface="SB Sans Display Light" panose="020B0303040504020204" pitchFamily="34" charset="0"/>
                <a:cs typeface="SB Sans Display Light" panose="020B0303040504020204" pitchFamily="34" charset="0"/>
              </a:defRPr>
            </a:lvl1pPr>
          </a:lstStyle>
          <a:p>
            <a:fld id="{CEE01B13-6A4D-3E45-ABFA-8527F4FEE809}" type="slidenum">
              <a:rPr lang="ru-RU" smtClean="0"/>
              <a:pPr/>
              <a:t>‹#›</a:t>
            </a:fld>
            <a:endParaRPr lang="ru-RU" dirty="0">
              <a:latin typeface="SB Sans Display Light" panose="020B0303040504020204" pitchFamily="34" charset="0"/>
              <a:cs typeface="SB Sans Display Light" panose="020B0303040504020204" pitchFamily="34" charset="0"/>
            </a:endParaRPr>
          </a:p>
        </p:txBody>
      </p:sp>
      <p:sp>
        <p:nvSpPr>
          <p:cNvPr id="3" name="Заголовок 1">
            <a:extLst>
              <a:ext uri="{FF2B5EF4-FFF2-40B4-BE49-F238E27FC236}">
                <a16:creationId xmlns:a16="http://schemas.microsoft.com/office/drawing/2014/main" id="{EC6D98ED-31B6-E594-51FB-229FD62F47E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87375" y="3446930"/>
            <a:ext cx="11278628" cy="775597"/>
          </a:xfrm>
        </p:spPr>
        <p:txBody>
          <a:bodyPr wrap="square" lIns="0" anchor="t">
            <a:spAutoFit/>
          </a:bodyPr>
          <a:lstStyle>
            <a:lvl1pPr algn="l">
              <a:defRPr sz="4800" b="1" i="0">
                <a:solidFill>
                  <a:schemeClr val="bg1"/>
                </a:solidFill>
                <a:latin typeface="SB Sans Display Semibold" panose="020B0503040504020204" pitchFamily="34" charset="0"/>
                <a:cs typeface="SB Sans Display Semibold" panose="020B0503040504020204" pitchFamily="34" charset="0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1511422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  <p15:guide id="3" pos="37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1353B1A-7B04-A9CF-F2C4-A1BBC8283F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0A925224-3D54-27F1-E500-3F77041F48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AC18880-7B05-836F-50DA-B177C15B7BC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SB Sans Display" panose="020B0503040504020204" pitchFamily="34" charset="0"/>
                <a:cs typeface="SB Sans Display" panose="020B0503040504020204" pitchFamily="34" charset="0"/>
              </a:defRPr>
            </a:lvl1pPr>
          </a:lstStyle>
          <a:p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0FB3799-25D5-68FE-D6B2-976492A4326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SB Sans Display" panose="020B0503040504020204" pitchFamily="34" charset="0"/>
                <a:cs typeface="SB Sans Display" panose="020B0503040504020204" pitchFamily="34" charset="0"/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7C89EED-AF56-BEF9-F325-10C5593E08F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SB Sans Display" panose="020B0503040504020204" pitchFamily="34" charset="0"/>
                <a:cs typeface="SB Sans Display" panose="020B0503040504020204" pitchFamily="34" charset="0"/>
              </a:defRPr>
            </a:lvl1pPr>
          </a:lstStyle>
          <a:p>
            <a:fld id="{CEE01B13-6A4D-3E45-ABFA-8527F4FEE809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358849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6" r:id="rId1"/>
    <p:sldLayoutId id="2147483682" r:id="rId2"/>
    <p:sldLayoutId id="2147483684" r:id="rId3"/>
    <p:sldLayoutId id="2147483649" r:id="rId4"/>
    <p:sldLayoutId id="2147483662" r:id="rId5"/>
    <p:sldLayoutId id="2147483663" r:id="rId6"/>
    <p:sldLayoutId id="2147483670" r:id="rId7"/>
    <p:sldLayoutId id="2147483683" r:id="rId8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i="0" kern="1200">
          <a:solidFill>
            <a:schemeClr val="tx1"/>
          </a:solidFill>
          <a:latin typeface="SB Sans Display Semibold" panose="020B0503040504020204" pitchFamily="34" charset="0"/>
          <a:ea typeface="+mj-ea"/>
          <a:cs typeface="SB Sans Display Semibold" panose="020B0503040504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SB Sans Display" panose="020B0503040504020204" pitchFamily="34" charset="0"/>
          <a:ea typeface="+mn-ea"/>
          <a:cs typeface="SB Sans Display" panose="020B0503040504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SB Sans Display" panose="020B0503040504020204" pitchFamily="34" charset="0"/>
          <a:ea typeface="+mn-ea"/>
          <a:cs typeface="SB Sans Display" panose="020B0503040504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SB Sans Display" panose="020B0503040504020204" pitchFamily="34" charset="0"/>
          <a:ea typeface="+mn-ea"/>
          <a:cs typeface="SB Sans Display" panose="020B0503040504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SB Sans Display" panose="020B0503040504020204" pitchFamily="34" charset="0"/>
          <a:ea typeface="+mn-ea"/>
          <a:cs typeface="SB Sans Display" panose="020B0503040504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SB Sans Display" panose="020B0503040504020204" pitchFamily="34" charset="0"/>
          <a:ea typeface="+mn-ea"/>
          <a:cs typeface="SB Sans Display" panose="020B0503040504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211" userDrawn="1">
          <p15:clr>
            <a:srgbClr val="F26B43"/>
          </p15:clr>
        </p15:guide>
        <p15:guide id="3" pos="7469" userDrawn="1">
          <p15:clr>
            <a:srgbClr val="F26B43"/>
          </p15:clr>
        </p15:guide>
        <p15:guide id="4" orient="horz" pos="142" userDrawn="1">
          <p15:clr>
            <a:srgbClr val="F26B43"/>
          </p15:clr>
        </p15:guide>
        <p15:guide id="5" orient="horz" pos="4178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Заголовок 6">
            <a:extLst>
              <a:ext uri="{FF2B5EF4-FFF2-40B4-BE49-F238E27FC236}">
                <a16:creationId xmlns:a16="http://schemas.microsoft.com/office/drawing/2014/main" id="{01F8A0AF-F439-5414-D24C-01EBE7EAB6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34963" y="225425"/>
            <a:ext cx="11522075" cy="547842"/>
          </a:xfrm>
        </p:spPr>
        <p:txBody>
          <a:bodyPr/>
          <a:lstStyle/>
          <a:p>
            <a:r>
              <a:rPr lang="ru-RU" sz="3200" dirty="0">
                <a:solidFill>
                  <a:srgbClr val="358AFF"/>
                </a:solidFill>
              </a:rPr>
              <a:t>Голос </a:t>
            </a:r>
            <a:r>
              <a:rPr lang="en" sz="3200" dirty="0">
                <a:solidFill>
                  <a:srgbClr val="358AFF"/>
                </a:solidFill>
              </a:rPr>
              <a:t>IT: </a:t>
            </a:r>
            <a:r>
              <a:rPr lang="ru-RU" sz="3200" dirty="0"/>
              <a:t>дайджест для программы </a:t>
            </a:r>
            <a:r>
              <a:rPr lang="en" sz="3200" dirty="0"/>
              <a:t>AI </a:t>
            </a:r>
            <a:r>
              <a:rPr lang="en" sz="3200" dirty="0" smtClean="0"/>
              <a:t>PDLC</a:t>
            </a:r>
            <a:endParaRPr lang="ru-RU" sz="3200" dirty="0"/>
          </a:p>
        </p:txBody>
      </p:sp>
      <p:sp>
        <p:nvSpPr>
          <p:cNvPr id="50" name="Скругленный прямоугольник 49">
            <a:extLst>
              <a:ext uri="{FF2B5EF4-FFF2-40B4-BE49-F238E27FC236}">
                <a16:creationId xmlns:a16="http://schemas.microsoft.com/office/drawing/2014/main" id="{F32001AB-5FE5-FC47-B5D0-9EEEC66C1EFA}"/>
              </a:ext>
            </a:extLst>
          </p:cNvPr>
          <p:cNvSpPr/>
          <p:nvPr/>
        </p:nvSpPr>
        <p:spPr>
          <a:xfrm>
            <a:off x="430099" y="1671380"/>
            <a:ext cx="11522074" cy="4436798"/>
          </a:xfrm>
          <a:prstGeom prst="roundRect">
            <a:avLst>
              <a:gd name="adj" fmla="val 6196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6B81C5DD-9E69-4DDA-7DB6-B4F60012B6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E01B13-6A4D-3E45-ABFA-8527F4FEE809}" type="slidenum">
              <a:rPr lang="ru-RU" smtClean="0"/>
              <a:pPr/>
              <a:t>1</a:t>
            </a:fld>
            <a:endParaRPr lang="ru-RU" dirty="0"/>
          </a:p>
        </p:txBody>
      </p:sp>
      <p:sp>
        <p:nvSpPr>
          <p:cNvPr id="7" name="TextBox 2">
            <a:extLst>
              <a:ext uri="{FF2B5EF4-FFF2-40B4-BE49-F238E27FC236}">
                <a16:creationId xmlns:a16="http://schemas.microsoft.com/office/drawing/2014/main" id="{63F9A912-2794-6722-54A3-81EE4B2BCF02}"/>
              </a:ext>
            </a:extLst>
          </p:cNvPr>
          <p:cNvSpPr txBox="1"/>
          <p:nvPr/>
        </p:nvSpPr>
        <p:spPr>
          <a:xfrm>
            <a:off x="10380671" y="233055"/>
            <a:ext cx="1476366" cy="50783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r"/>
            <a:r>
              <a:rPr lang="ru-RU" sz="1100" dirty="0" smtClean="0">
                <a:solidFill>
                  <a:srgbClr val="64748B"/>
                </a:solidFill>
                <a:latin typeface="SB Sans Display"/>
              </a:rPr>
              <a:t>16</a:t>
            </a:r>
            <a:r>
              <a:rPr sz="1100" b="0" i="0" dirty="0" smtClean="0">
                <a:solidFill>
                  <a:srgbClr val="64748B"/>
                </a:solidFill>
                <a:latin typeface="SB Sans Display"/>
              </a:rPr>
              <a:t>.</a:t>
            </a:r>
            <a:r>
              <a:rPr lang="ru-RU" sz="1100" b="0" i="0" dirty="0" smtClean="0">
                <a:solidFill>
                  <a:srgbClr val="64748B"/>
                </a:solidFill>
                <a:latin typeface="SB Sans Display"/>
              </a:rPr>
              <a:t>10</a:t>
            </a:r>
            <a:r>
              <a:rPr sz="1100" b="0" i="0" dirty="0" smtClean="0">
                <a:solidFill>
                  <a:srgbClr val="64748B"/>
                </a:solidFill>
                <a:latin typeface="SB Sans Display"/>
              </a:rPr>
              <a:t>.2026</a:t>
            </a:r>
            <a:r>
              <a:rPr lang="ru-RU" sz="1100" b="0" i="0" dirty="0">
                <a:solidFill>
                  <a:srgbClr val="64748B"/>
                </a:solidFill>
                <a:latin typeface="SB Sans Display"/>
              </a:rPr>
              <a:t/>
            </a:r>
            <a:br>
              <a:rPr lang="ru-RU" sz="1100" b="0" i="0" dirty="0">
                <a:solidFill>
                  <a:srgbClr val="64748B"/>
                </a:solidFill>
                <a:latin typeface="SB Sans Display"/>
              </a:rPr>
            </a:br>
            <a:r>
              <a:rPr sz="1100" b="0" i="0" dirty="0" err="1">
                <a:solidFill>
                  <a:srgbClr val="64748B"/>
                </a:solidFill>
                <a:latin typeface="SB Sans Display"/>
              </a:rPr>
              <a:t>Период</a:t>
            </a:r>
            <a:r>
              <a:rPr sz="1100" b="0" i="0" dirty="0">
                <a:solidFill>
                  <a:srgbClr val="64748B"/>
                </a:solidFill>
                <a:latin typeface="SB Sans Display"/>
              </a:rPr>
              <a:t>: </a:t>
            </a:r>
            <a:r>
              <a:rPr lang="ru-RU" sz="1100" dirty="0" smtClean="0">
                <a:solidFill>
                  <a:srgbClr val="64748B"/>
                </a:solidFill>
                <a:latin typeface="SB Sans Display"/>
              </a:rPr>
              <a:t>09</a:t>
            </a:r>
            <a:r>
              <a:rPr sz="1100" b="0" i="0" dirty="0" smtClean="0">
                <a:solidFill>
                  <a:srgbClr val="64748B"/>
                </a:solidFill>
                <a:latin typeface="SB Sans Display"/>
              </a:rPr>
              <a:t>.</a:t>
            </a:r>
            <a:r>
              <a:rPr lang="ru-RU" sz="1100" b="0" i="0" dirty="0" smtClean="0">
                <a:solidFill>
                  <a:srgbClr val="64748B"/>
                </a:solidFill>
                <a:latin typeface="SB Sans Display"/>
              </a:rPr>
              <a:t>10</a:t>
            </a:r>
            <a:r>
              <a:rPr sz="1100" b="0" i="0" dirty="0" smtClean="0">
                <a:solidFill>
                  <a:srgbClr val="64748B"/>
                </a:solidFill>
                <a:latin typeface="SB Sans Display"/>
              </a:rPr>
              <a:t> </a:t>
            </a:r>
            <a:r>
              <a:rPr sz="1100" b="0" i="0" dirty="0">
                <a:solidFill>
                  <a:srgbClr val="64748B"/>
                </a:solidFill>
                <a:latin typeface="SB Sans Display"/>
              </a:rPr>
              <a:t>– </a:t>
            </a:r>
            <a:r>
              <a:rPr lang="ru-RU" sz="1100" dirty="0" smtClean="0">
                <a:solidFill>
                  <a:srgbClr val="64748B"/>
                </a:solidFill>
                <a:latin typeface="SB Sans Display"/>
              </a:rPr>
              <a:t>15</a:t>
            </a:r>
            <a:r>
              <a:rPr sz="1100" b="0" i="0" dirty="0" smtClean="0">
                <a:solidFill>
                  <a:srgbClr val="64748B"/>
                </a:solidFill>
                <a:latin typeface="SB Sans Display"/>
              </a:rPr>
              <a:t>.</a:t>
            </a:r>
            <a:r>
              <a:rPr lang="ru-RU" sz="1100" b="0" i="0" dirty="0" smtClean="0">
                <a:solidFill>
                  <a:srgbClr val="64748B"/>
                </a:solidFill>
                <a:latin typeface="SB Sans Display"/>
              </a:rPr>
              <a:t>1</a:t>
            </a:r>
            <a:r>
              <a:rPr sz="1100" b="0" i="0" dirty="0" smtClean="0">
                <a:solidFill>
                  <a:srgbClr val="64748B"/>
                </a:solidFill>
                <a:latin typeface="SB Sans Display"/>
              </a:rPr>
              <a:t>0</a:t>
            </a:r>
            <a:r>
              <a:rPr lang="ru-RU" sz="1100" b="0" i="0" dirty="0">
                <a:solidFill>
                  <a:srgbClr val="64748B"/>
                </a:solidFill>
                <a:latin typeface="SB Sans Display"/>
              </a:rPr>
              <a:t/>
            </a:r>
            <a:br>
              <a:rPr lang="ru-RU" sz="1100" b="0" i="0" dirty="0">
                <a:solidFill>
                  <a:srgbClr val="64748B"/>
                </a:solidFill>
                <a:latin typeface="SB Sans Display"/>
              </a:rPr>
            </a:br>
            <a:r>
              <a:rPr sz="1100" b="0" i="0" dirty="0">
                <a:solidFill>
                  <a:srgbClr val="64748B"/>
                </a:solidFill>
                <a:latin typeface="SB Sans Display"/>
              </a:rPr>
              <a:t>№ </a:t>
            </a:r>
            <a:r>
              <a:rPr lang="ru-RU" sz="1100" dirty="0" smtClean="0">
                <a:solidFill>
                  <a:srgbClr val="64748B"/>
                </a:solidFill>
                <a:latin typeface="SB Sans Display"/>
              </a:rPr>
              <a:t>20</a:t>
            </a:r>
            <a:endParaRPr sz="1100" b="0" i="0" dirty="0">
              <a:solidFill>
                <a:srgbClr val="64748B"/>
              </a:solidFill>
              <a:latin typeface="SB Sans Display"/>
            </a:endParaRPr>
          </a:p>
        </p:txBody>
      </p:sp>
      <p:grpSp>
        <p:nvGrpSpPr>
          <p:cNvPr id="19" name="Группа 18">
            <a:extLst>
              <a:ext uri="{FF2B5EF4-FFF2-40B4-BE49-F238E27FC236}">
                <a16:creationId xmlns:a16="http://schemas.microsoft.com/office/drawing/2014/main" id="{0D271D93-E202-CFA7-B11B-B028BC8C3618}"/>
              </a:ext>
            </a:extLst>
          </p:cNvPr>
          <p:cNvGrpSpPr/>
          <p:nvPr/>
        </p:nvGrpSpPr>
        <p:grpSpPr>
          <a:xfrm>
            <a:off x="334963" y="797366"/>
            <a:ext cx="3080266" cy="876739"/>
            <a:chOff x="334963" y="2166541"/>
            <a:chExt cx="3080266" cy="876739"/>
          </a:xfrm>
        </p:grpSpPr>
        <p:sp>
          <p:nvSpPr>
            <p:cNvPr id="9" name="Скругленный прямоугольник 8">
              <a:extLst>
                <a:ext uri="{FF2B5EF4-FFF2-40B4-BE49-F238E27FC236}">
                  <a16:creationId xmlns:a16="http://schemas.microsoft.com/office/drawing/2014/main" id="{130284AF-B202-0F13-2983-2782102FD010}"/>
                </a:ext>
              </a:extLst>
            </p:cNvPr>
            <p:cNvSpPr/>
            <p:nvPr/>
          </p:nvSpPr>
          <p:spPr>
            <a:xfrm>
              <a:off x="334963" y="2166541"/>
              <a:ext cx="3080266" cy="876739"/>
            </a:xfrm>
            <a:prstGeom prst="round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noFill/>
            </a:ln>
            <a:effectLst>
              <a:outerShdw blurRad="152400" dist="50800" dir="5400000" algn="t" rotWithShape="0">
                <a:schemeClr val="accent1">
                  <a:lumMod val="40000"/>
                  <a:lumOff val="60000"/>
                  <a:alpha val="40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BE9D5B3E-F5A5-E94C-2429-638202623687}"/>
                </a:ext>
              </a:extLst>
            </p:cNvPr>
            <p:cNvSpPr txBox="1"/>
            <p:nvPr/>
          </p:nvSpPr>
          <p:spPr>
            <a:xfrm>
              <a:off x="483077" y="2323378"/>
              <a:ext cx="2745039" cy="52835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ts val="1680"/>
                </a:lnSpc>
                <a:buNone/>
                <a:defRPr/>
              </a:pPr>
              <a:r>
                <a:rPr lang="ru-RU" sz="1200" dirty="0">
                  <a:solidFill>
                    <a:schemeClr val="accent2"/>
                  </a:solidFill>
                  <a:latin typeface="SB Sans Display" panose="020B0503040504020204" pitchFamily="34" charset="0"/>
                  <a:cs typeface="SB Sans Display" panose="020B0503040504020204" pitchFamily="34" charset="0"/>
                </a:rPr>
                <a:t>Темы, волнующие сотрудников, по продуктам программы </a:t>
              </a:r>
              <a:r>
                <a:rPr lang="en" sz="1200" dirty="0">
                  <a:solidFill>
                    <a:schemeClr val="accent2"/>
                  </a:solidFill>
                  <a:latin typeface="SB Sans Display" panose="020B0503040504020204" pitchFamily="34" charset="0"/>
                  <a:cs typeface="SB Sans Display" panose="020B0503040504020204" pitchFamily="34" charset="0"/>
                </a:rPr>
                <a:t>PDLC </a:t>
              </a:r>
            </a:p>
          </p:txBody>
        </p:sp>
      </p:grpSp>
      <p:grpSp>
        <p:nvGrpSpPr>
          <p:cNvPr id="38" name="Группа 37">
            <a:extLst>
              <a:ext uri="{FF2B5EF4-FFF2-40B4-BE49-F238E27FC236}">
                <a16:creationId xmlns:a16="http://schemas.microsoft.com/office/drawing/2014/main" id="{AB7A9B1B-E579-F5D1-99E0-E188A23E03D8}"/>
              </a:ext>
            </a:extLst>
          </p:cNvPr>
          <p:cNvGrpSpPr/>
          <p:nvPr/>
        </p:nvGrpSpPr>
        <p:grpSpPr>
          <a:xfrm>
            <a:off x="3571480" y="797366"/>
            <a:ext cx="2077188" cy="876739"/>
            <a:chOff x="3524680" y="1216466"/>
            <a:chExt cx="2077188" cy="876739"/>
          </a:xfrm>
        </p:grpSpPr>
        <p:sp>
          <p:nvSpPr>
            <p:cNvPr id="10" name="Скругленный прямоугольник 9">
              <a:extLst>
                <a:ext uri="{FF2B5EF4-FFF2-40B4-BE49-F238E27FC236}">
                  <a16:creationId xmlns:a16="http://schemas.microsoft.com/office/drawing/2014/main" id="{80F525E7-C18F-8DA0-3134-FB20A0C9614A}"/>
                </a:ext>
              </a:extLst>
            </p:cNvPr>
            <p:cNvSpPr/>
            <p:nvPr/>
          </p:nvSpPr>
          <p:spPr>
            <a:xfrm>
              <a:off x="3524680" y="1216466"/>
              <a:ext cx="2077188" cy="876739"/>
            </a:xfrm>
            <a:prstGeom prst="roundRect">
              <a:avLst>
                <a:gd name="adj" fmla="val 13729"/>
              </a:avLst>
            </a:prstGeom>
            <a:solidFill>
              <a:schemeClr val="bg1"/>
            </a:solidFill>
            <a:ln>
              <a:noFill/>
            </a:ln>
            <a:effectLst>
              <a:outerShdw blurRad="152400" dist="50800" dir="5400000" algn="t" rotWithShape="0">
                <a:schemeClr val="accent1">
                  <a:lumMod val="40000"/>
                  <a:lumOff val="60000"/>
                  <a:alpha val="40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DB98A6AF-3570-DF0C-61AA-389CBAB7F9B7}"/>
                </a:ext>
              </a:extLst>
            </p:cNvPr>
            <p:cNvSpPr txBox="1"/>
            <p:nvPr/>
          </p:nvSpPr>
          <p:spPr bwMode="auto">
            <a:xfrm>
              <a:off x="4150142" y="1316668"/>
              <a:ext cx="644728" cy="40011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2000" b="1" kern="0" noProof="0" dirty="0" smtClean="0">
                  <a:solidFill>
                    <a:srgbClr val="358AFF"/>
                  </a:solidFill>
                  <a:latin typeface="SB Sans Display Semibold" panose="020B0503040504020204" pitchFamily="34" charset="0"/>
                  <a:cs typeface="SB Sans Display Semibold" panose="020B0503040504020204" pitchFamily="34" charset="0"/>
                </a:rPr>
                <a:t>4</a:t>
              </a:r>
              <a:r>
                <a:rPr lang="ru-RU" sz="2000" b="1" kern="0" dirty="0" smtClean="0">
                  <a:solidFill>
                    <a:srgbClr val="358AFF"/>
                  </a:solidFill>
                  <a:latin typeface="SB Sans Display Semibold" panose="020B0503040504020204" pitchFamily="34" charset="0"/>
                  <a:cs typeface="SB Sans Display Semibold" panose="020B0503040504020204" pitchFamily="34" charset="0"/>
                </a:rPr>
                <a:t>33</a:t>
              </a:r>
              <a:endParaRPr kumimoji="0" sz="2000" b="1" i="0" u="none" strike="noStrike" kern="0" cap="none" spc="0" normalizeH="0" baseline="0" noProof="0" dirty="0">
                <a:ln>
                  <a:noFill/>
                </a:ln>
                <a:solidFill>
                  <a:srgbClr val="358AFF"/>
                </a:solidFill>
                <a:effectLst/>
                <a:uLnTx/>
                <a:uFillTx/>
                <a:latin typeface="SB Sans Display Semibold" panose="020B0503040504020204" pitchFamily="34" charset="0"/>
                <a:cs typeface="SB Sans Display Semibold" panose="020B0503040504020204" pitchFamily="34" charset="0"/>
              </a:endParaRP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791A5A22-3DB2-67D6-94C4-49585D9131B9}"/>
                </a:ext>
              </a:extLst>
            </p:cNvPr>
            <p:cNvSpPr txBox="1"/>
            <p:nvPr/>
          </p:nvSpPr>
          <p:spPr bwMode="auto">
            <a:xfrm>
              <a:off x="4150142" y="1613272"/>
              <a:ext cx="1376832" cy="37446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100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SB Sans Display" panose="020B0503040504020204" pitchFamily="34" charset="0"/>
                  <a:cs typeface="SB Sans Display" panose="020B0503040504020204" pitchFamily="34" charset="0"/>
                </a:rPr>
                <a:t>Сигналов</a:t>
              </a:r>
              <a:r>
                <a:rPr kumimoji="0" sz="100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SB Sans Display" panose="020B0503040504020204" pitchFamily="34" charset="0"/>
                  <a:cs typeface="SB Sans Display" panose="020B0503040504020204" pitchFamily="34" charset="0"/>
                </a:rPr>
                <a:t>
</a:t>
              </a:r>
              <a:r>
                <a:rPr kumimoji="0" sz="1000" u="none" strike="noStrike" kern="0" cap="none" spc="0" normalizeH="0" baseline="0" noProof="0" dirty="0" err="1">
                  <a:ln>
                    <a:noFill/>
                  </a:ln>
                  <a:effectLst/>
                  <a:uLnTx/>
                  <a:uFillTx/>
                  <a:latin typeface="SB Sans Display" panose="020B0503040504020204" pitchFamily="34" charset="0"/>
                  <a:cs typeface="SB Sans Display" panose="020B0503040504020204" pitchFamily="34" charset="0"/>
                </a:rPr>
                <a:t>проанализировано</a:t>
              </a:r>
              <a:endParaRPr kumimoji="0" sz="100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SB Sans Display" panose="020B0503040504020204" pitchFamily="34" charset="0"/>
                <a:cs typeface="SB Sans Display" panose="020B0503040504020204" pitchFamily="34" charset="0"/>
              </a:endParaRPr>
            </a:p>
          </p:txBody>
        </p:sp>
        <p:sp>
          <p:nvSpPr>
            <p:cNvPr id="22" name="Скругленный прямоугольник 21">
              <a:extLst>
                <a:ext uri="{FF2B5EF4-FFF2-40B4-BE49-F238E27FC236}">
                  <a16:creationId xmlns:a16="http://schemas.microsoft.com/office/drawing/2014/main" id="{EC959E45-CAA5-D373-327F-ACF5FD6E8B63}"/>
                </a:ext>
              </a:extLst>
            </p:cNvPr>
            <p:cNvSpPr/>
            <p:nvPr/>
          </p:nvSpPr>
          <p:spPr>
            <a:xfrm>
              <a:off x="3646142" y="1402835"/>
              <a:ext cx="504000" cy="504000"/>
            </a:xfrm>
            <a:prstGeom prst="roundRect">
              <a:avLst>
                <a:gd name="adj" fmla="val 20495"/>
              </a:avLst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37" name="Группа 36">
            <a:extLst>
              <a:ext uri="{FF2B5EF4-FFF2-40B4-BE49-F238E27FC236}">
                <a16:creationId xmlns:a16="http://schemas.microsoft.com/office/drawing/2014/main" id="{23E03CA0-27E5-7CE4-14BB-8806600BC8F5}"/>
              </a:ext>
            </a:extLst>
          </p:cNvPr>
          <p:cNvGrpSpPr/>
          <p:nvPr/>
        </p:nvGrpSpPr>
        <p:grpSpPr>
          <a:xfrm>
            <a:off x="5804916" y="797366"/>
            <a:ext cx="2002294" cy="876739"/>
            <a:chOff x="5711318" y="1216466"/>
            <a:chExt cx="2002294" cy="876739"/>
          </a:xfrm>
        </p:grpSpPr>
        <p:sp>
          <p:nvSpPr>
            <p:cNvPr id="23" name="Скругленный прямоугольник 22">
              <a:extLst>
                <a:ext uri="{FF2B5EF4-FFF2-40B4-BE49-F238E27FC236}">
                  <a16:creationId xmlns:a16="http://schemas.microsoft.com/office/drawing/2014/main" id="{907F43BE-2A45-1900-D2C4-3A39F159C61D}"/>
                </a:ext>
              </a:extLst>
            </p:cNvPr>
            <p:cNvSpPr/>
            <p:nvPr/>
          </p:nvSpPr>
          <p:spPr>
            <a:xfrm>
              <a:off x="5711318" y="1216466"/>
              <a:ext cx="1908000" cy="876739"/>
            </a:xfrm>
            <a:prstGeom prst="roundRect">
              <a:avLst>
                <a:gd name="adj" fmla="val 13729"/>
              </a:avLst>
            </a:prstGeom>
            <a:solidFill>
              <a:schemeClr val="bg1"/>
            </a:solidFill>
            <a:ln>
              <a:noFill/>
            </a:ln>
            <a:effectLst>
              <a:outerShdw blurRad="152400" dist="50800" dir="5400000" algn="t" rotWithShape="0">
                <a:schemeClr val="accent1">
                  <a:lumMod val="40000"/>
                  <a:lumOff val="60000"/>
                  <a:alpha val="40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14752960-8C9D-5F46-5395-7A2D6E698D15}"/>
                </a:ext>
              </a:extLst>
            </p:cNvPr>
            <p:cNvSpPr txBox="1"/>
            <p:nvPr/>
          </p:nvSpPr>
          <p:spPr bwMode="auto">
            <a:xfrm>
              <a:off x="6336780" y="1316668"/>
              <a:ext cx="453970" cy="40011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ru-RU" sz="2000" b="1" kern="0" noProof="0" dirty="0">
                  <a:solidFill>
                    <a:srgbClr val="358AFF"/>
                  </a:solidFill>
                  <a:latin typeface="SB Sans Display Semibold" panose="020B0503040504020204" pitchFamily="34" charset="0"/>
                  <a:cs typeface="SB Sans Display Semibold" panose="020B0503040504020204" pitchFamily="34" charset="0"/>
                </a:rPr>
                <a:t>16</a:t>
              </a:r>
              <a:endParaRPr kumimoji="0" sz="2000" b="1" i="0" u="none" strike="noStrike" kern="0" cap="none" spc="0" normalizeH="0" baseline="0" noProof="0" dirty="0">
                <a:ln>
                  <a:noFill/>
                </a:ln>
                <a:solidFill>
                  <a:srgbClr val="358AFF"/>
                </a:solidFill>
                <a:effectLst/>
                <a:uLnTx/>
                <a:uFillTx/>
                <a:latin typeface="SB Sans Display Semibold" panose="020B0503040504020204" pitchFamily="34" charset="0"/>
                <a:cs typeface="SB Sans Display Semibold" panose="020B0503040504020204" pitchFamily="34" charset="0"/>
              </a:endParaRP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8BF5A545-B78D-C2B9-42B4-E29D26E9302F}"/>
                </a:ext>
              </a:extLst>
            </p:cNvPr>
            <p:cNvSpPr txBox="1"/>
            <p:nvPr/>
          </p:nvSpPr>
          <p:spPr bwMode="auto">
            <a:xfrm>
              <a:off x="6336780" y="1613272"/>
              <a:ext cx="1376832" cy="37446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100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SB Sans Display" panose="020B0503040504020204" pitchFamily="34" charset="0"/>
                  <a:cs typeface="SB Sans Display" panose="020B0503040504020204" pitchFamily="34" charset="0"/>
                </a:rPr>
                <a:t>Источников</a:t>
              </a:r>
            </a:p>
            <a:p>
              <a:pPr marL="0" marR="0" lvl="0" indent="0" defTabSz="914400" eaLnBrk="1" fontAlgn="auto" latinLnBrk="0" hangingPunct="1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100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SB Sans Display" panose="020B0503040504020204" pitchFamily="34" charset="0"/>
                  <a:cs typeface="SB Sans Display" panose="020B0503040504020204" pitchFamily="34" charset="0"/>
                </a:rPr>
                <a:t>обратной связи</a:t>
              </a:r>
            </a:p>
          </p:txBody>
        </p:sp>
        <p:sp>
          <p:nvSpPr>
            <p:cNvPr id="26" name="Скругленный прямоугольник 25">
              <a:extLst>
                <a:ext uri="{FF2B5EF4-FFF2-40B4-BE49-F238E27FC236}">
                  <a16:creationId xmlns:a16="http://schemas.microsoft.com/office/drawing/2014/main" id="{6461DA58-19EF-EFB8-6353-72C0CD150C22}"/>
                </a:ext>
              </a:extLst>
            </p:cNvPr>
            <p:cNvSpPr/>
            <p:nvPr/>
          </p:nvSpPr>
          <p:spPr>
            <a:xfrm>
              <a:off x="5832780" y="1402835"/>
              <a:ext cx="504000" cy="504000"/>
            </a:xfrm>
            <a:prstGeom prst="roundRect">
              <a:avLst>
                <a:gd name="adj" fmla="val 20495"/>
              </a:avLst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36" name="Группа 35">
            <a:extLst>
              <a:ext uri="{FF2B5EF4-FFF2-40B4-BE49-F238E27FC236}">
                <a16:creationId xmlns:a16="http://schemas.microsoft.com/office/drawing/2014/main" id="{C76CEDE8-C7A3-6122-75D3-300663721BB1}"/>
              </a:ext>
            </a:extLst>
          </p:cNvPr>
          <p:cNvGrpSpPr/>
          <p:nvPr/>
        </p:nvGrpSpPr>
        <p:grpSpPr>
          <a:xfrm>
            <a:off x="7877400" y="797366"/>
            <a:ext cx="2002294" cy="876739"/>
            <a:chOff x="7909968" y="1216466"/>
            <a:chExt cx="2002294" cy="876739"/>
          </a:xfrm>
        </p:grpSpPr>
        <p:sp>
          <p:nvSpPr>
            <p:cNvPr id="27" name="Скругленный прямоугольник 26">
              <a:extLst>
                <a:ext uri="{FF2B5EF4-FFF2-40B4-BE49-F238E27FC236}">
                  <a16:creationId xmlns:a16="http://schemas.microsoft.com/office/drawing/2014/main" id="{205E29E6-B145-E357-D2F2-419E75B2DA3E}"/>
                </a:ext>
              </a:extLst>
            </p:cNvPr>
            <p:cNvSpPr/>
            <p:nvPr/>
          </p:nvSpPr>
          <p:spPr>
            <a:xfrm>
              <a:off x="7909968" y="1216466"/>
              <a:ext cx="1908000" cy="876739"/>
            </a:xfrm>
            <a:prstGeom prst="roundRect">
              <a:avLst>
                <a:gd name="adj" fmla="val 13729"/>
              </a:avLst>
            </a:prstGeom>
            <a:solidFill>
              <a:schemeClr val="bg1"/>
            </a:solidFill>
            <a:ln>
              <a:noFill/>
            </a:ln>
            <a:effectLst>
              <a:outerShdw blurRad="152400" dist="50800" dir="5400000" algn="t" rotWithShape="0">
                <a:schemeClr val="accent1">
                  <a:lumMod val="40000"/>
                  <a:lumOff val="60000"/>
                  <a:alpha val="40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52ABE94E-EB43-D68E-00C2-6AB18A4DFD04}"/>
                </a:ext>
              </a:extLst>
            </p:cNvPr>
            <p:cNvSpPr txBox="1"/>
            <p:nvPr/>
          </p:nvSpPr>
          <p:spPr bwMode="auto">
            <a:xfrm>
              <a:off x="8535430" y="1316668"/>
              <a:ext cx="328936" cy="40011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ru-RU" sz="2000" b="1" kern="0" dirty="0">
                  <a:solidFill>
                    <a:srgbClr val="358AFF"/>
                  </a:solidFill>
                  <a:latin typeface="SB Sans Display Semibold" panose="020B0503040504020204" pitchFamily="34" charset="0"/>
                  <a:cs typeface="SB Sans Display Semibold" panose="020B0503040504020204" pitchFamily="34" charset="0"/>
                </a:rPr>
                <a:t>5</a:t>
              </a:r>
              <a:endParaRPr sz="2000" b="1" kern="0" dirty="0">
                <a:solidFill>
                  <a:srgbClr val="358AFF"/>
                </a:solidFill>
                <a:latin typeface="SB Sans Display Semibold" panose="020B0503040504020204" pitchFamily="34" charset="0"/>
                <a:cs typeface="SB Sans Display Semibold" panose="020B0503040504020204" pitchFamily="34" charset="0"/>
              </a:endParaRP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09378164-782D-74F7-F3A3-DA1E04000B9E}"/>
                </a:ext>
              </a:extLst>
            </p:cNvPr>
            <p:cNvSpPr txBox="1"/>
            <p:nvPr/>
          </p:nvSpPr>
          <p:spPr bwMode="auto">
            <a:xfrm>
              <a:off x="8535430" y="1613272"/>
              <a:ext cx="1376832" cy="37446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100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SB Sans Display" panose="020B0503040504020204" pitchFamily="34" charset="0"/>
                  <a:cs typeface="SB Sans Display" panose="020B0503040504020204" pitchFamily="34" charset="0"/>
                </a:rPr>
                <a:t>Активных </a:t>
              </a:r>
              <a:br>
                <a:rPr kumimoji="0" lang="ru-RU" sz="100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SB Sans Display" panose="020B0503040504020204" pitchFamily="34" charset="0"/>
                  <a:cs typeface="SB Sans Display" panose="020B0503040504020204" pitchFamily="34" charset="0"/>
                </a:rPr>
              </a:br>
              <a:r>
                <a:rPr kumimoji="0" lang="ru-RU" sz="100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SB Sans Display" panose="020B0503040504020204" pitchFamily="34" charset="0"/>
                  <a:cs typeface="SB Sans Display" panose="020B0503040504020204" pitchFamily="34" charset="0"/>
                </a:rPr>
                <a:t>тем</a:t>
              </a:r>
            </a:p>
          </p:txBody>
        </p:sp>
        <p:sp>
          <p:nvSpPr>
            <p:cNvPr id="30" name="Скругленный прямоугольник 29">
              <a:extLst>
                <a:ext uri="{FF2B5EF4-FFF2-40B4-BE49-F238E27FC236}">
                  <a16:creationId xmlns:a16="http://schemas.microsoft.com/office/drawing/2014/main" id="{8C10EBC1-5006-9377-3123-8C695A9CF323}"/>
                </a:ext>
              </a:extLst>
            </p:cNvPr>
            <p:cNvSpPr/>
            <p:nvPr/>
          </p:nvSpPr>
          <p:spPr>
            <a:xfrm>
              <a:off x="8031430" y="1402835"/>
              <a:ext cx="504000" cy="504000"/>
            </a:xfrm>
            <a:prstGeom prst="roundRect">
              <a:avLst>
                <a:gd name="adj" fmla="val 20495"/>
              </a:avLst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35" name="Группа 34">
            <a:extLst>
              <a:ext uri="{FF2B5EF4-FFF2-40B4-BE49-F238E27FC236}">
                <a16:creationId xmlns:a16="http://schemas.microsoft.com/office/drawing/2014/main" id="{3916F5D6-6A32-9C28-C0BC-209389860E76}"/>
              </a:ext>
            </a:extLst>
          </p:cNvPr>
          <p:cNvGrpSpPr/>
          <p:nvPr/>
        </p:nvGrpSpPr>
        <p:grpSpPr>
          <a:xfrm>
            <a:off x="9949879" y="797366"/>
            <a:ext cx="2002294" cy="876739"/>
            <a:chOff x="9829303" y="1216466"/>
            <a:chExt cx="2002294" cy="876739"/>
          </a:xfrm>
        </p:grpSpPr>
        <p:sp>
          <p:nvSpPr>
            <p:cNvPr id="31" name="Скругленный прямоугольник 30">
              <a:extLst>
                <a:ext uri="{FF2B5EF4-FFF2-40B4-BE49-F238E27FC236}">
                  <a16:creationId xmlns:a16="http://schemas.microsoft.com/office/drawing/2014/main" id="{AB43443E-2991-3070-3648-F515764095EC}"/>
                </a:ext>
              </a:extLst>
            </p:cNvPr>
            <p:cNvSpPr/>
            <p:nvPr/>
          </p:nvSpPr>
          <p:spPr>
            <a:xfrm>
              <a:off x="9829303" y="1216466"/>
              <a:ext cx="1908000" cy="876739"/>
            </a:xfrm>
            <a:prstGeom prst="roundRect">
              <a:avLst>
                <a:gd name="adj" fmla="val 13729"/>
              </a:avLst>
            </a:prstGeom>
            <a:solidFill>
              <a:schemeClr val="bg1"/>
            </a:solidFill>
            <a:ln>
              <a:noFill/>
            </a:ln>
            <a:effectLst>
              <a:outerShdw blurRad="152400" dist="50800" dir="5400000" algn="t" rotWithShape="0">
                <a:schemeClr val="accent1">
                  <a:lumMod val="40000"/>
                  <a:lumOff val="60000"/>
                  <a:alpha val="40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BB69D601-44C5-BADE-9DED-B01F797E116F}"/>
                </a:ext>
              </a:extLst>
            </p:cNvPr>
            <p:cNvSpPr txBox="1"/>
            <p:nvPr/>
          </p:nvSpPr>
          <p:spPr bwMode="auto">
            <a:xfrm>
              <a:off x="10454765" y="1316668"/>
              <a:ext cx="335348" cy="40011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marR="0" lvl="0" indent="0"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ru-RU" sz="2000" b="1" kern="0" dirty="0">
                  <a:solidFill>
                    <a:srgbClr val="358AFF"/>
                  </a:solidFill>
                  <a:latin typeface="SB Sans Display Semibold" panose="020B0503040504020204" pitchFamily="34" charset="0"/>
                  <a:cs typeface="SB Sans Display Semibold" panose="020B0503040504020204" pitchFamily="34" charset="0"/>
                </a:rPr>
                <a:t>2</a:t>
              </a:r>
              <a:endParaRPr sz="2000" b="1" kern="0" dirty="0">
                <a:solidFill>
                  <a:srgbClr val="358AFF"/>
                </a:solidFill>
                <a:latin typeface="SB Sans Display Semibold" panose="020B0503040504020204" pitchFamily="34" charset="0"/>
                <a:cs typeface="SB Sans Display Semibold" panose="020B0503040504020204" pitchFamily="34" charset="0"/>
              </a:endParaRP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9230933D-0BD2-0430-18B4-F57F07608046}"/>
                </a:ext>
              </a:extLst>
            </p:cNvPr>
            <p:cNvSpPr txBox="1"/>
            <p:nvPr/>
          </p:nvSpPr>
          <p:spPr bwMode="auto">
            <a:xfrm>
              <a:off x="10454765" y="1613272"/>
              <a:ext cx="1376832" cy="37446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1000" u="none" strike="noStrike" kern="0" cap="none" spc="0" normalizeH="0" baseline="0" noProof="0" smtClean="0">
                  <a:ln>
                    <a:noFill/>
                  </a:ln>
                  <a:effectLst/>
                  <a:uLnTx/>
                  <a:uFillTx/>
                  <a:latin typeface="SB Sans Display" panose="020B0503040504020204" pitchFamily="34" charset="0"/>
                  <a:cs typeface="SB Sans Display" panose="020B0503040504020204" pitchFamily="34" charset="0"/>
                </a:rPr>
                <a:t>Новые </a:t>
              </a:r>
              <a:r>
                <a:rPr kumimoji="0" lang="ru-RU" sz="1000" u="none" strike="noStrike" kern="0" cap="none" spc="0" normalizeH="0" baseline="0" noProof="0">
                  <a:ln>
                    <a:noFill/>
                  </a:ln>
                  <a:effectLst/>
                  <a:uLnTx/>
                  <a:uFillTx/>
                  <a:latin typeface="SB Sans Display" panose="020B0503040504020204" pitchFamily="34" charset="0"/>
                  <a:cs typeface="SB Sans Display" panose="020B0503040504020204" pitchFamily="34" charset="0"/>
                </a:rPr>
                <a:t/>
              </a:r>
              <a:br>
                <a:rPr kumimoji="0" lang="ru-RU" sz="1000" u="none" strike="noStrike" kern="0" cap="none" spc="0" normalizeH="0" baseline="0" noProof="0">
                  <a:ln>
                    <a:noFill/>
                  </a:ln>
                  <a:effectLst/>
                  <a:uLnTx/>
                  <a:uFillTx/>
                  <a:latin typeface="SB Sans Display" panose="020B0503040504020204" pitchFamily="34" charset="0"/>
                  <a:cs typeface="SB Sans Display" panose="020B0503040504020204" pitchFamily="34" charset="0"/>
                </a:rPr>
              </a:br>
              <a:r>
                <a:rPr kumimoji="0" lang="ru-RU" sz="1000" u="none" strike="noStrike" kern="0" cap="none" spc="0" normalizeH="0" baseline="0" noProof="0" smtClean="0">
                  <a:ln>
                    <a:noFill/>
                  </a:ln>
                  <a:effectLst/>
                  <a:uLnTx/>
                  <a:uFillTx/>
                  <a:latin typeface="SB Sans Display" panose="020B0503040504020204" pitchFamily="34" charset="0"/>
                  <a:cs typeface="SB Sans Display" panose="020B0503040504020204" pitchFamily="34" charset="0"/>
                </a:rPr>
                <a:t>темы</a:t>
              </a:r>
              <a:endParaRPr kumimoji="0" lang="ru-RU" sz="100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SB Sans Display" panose="020B0503040504020204" pitchFamily="34" charset="0"/>
                <a:cs typeface="SB Sans Display" panose="020B0503040504020204" pitchFamily="34" charset="0"/>
              </a:endParaRPr>
            </a:p>
          </p:txBody>
        </p:sp>
        <p:sp>
          <p:nvSpPr>
            <p:cNvPr id="34" name="Скругленный прямоугольник 33">
              <a:extLst>
                <a:ext uri="{FF2B5EF4-FFF2-40B4-BE49-F238E27FC236}">
                  <a16:creationId xmlns:a16="http://schemas.microsoft.com/office/drawing/2014/main" id="{529D8DE7-8336-B015-4D45-D79651BBC021}"/>
                </a:ext>
              </a:extLst>
            </p:cNvPr>
            <p:cNvSpPr/>
            <p:nvPr/>
          </p:nvSpPr>
          <p:spPr>
            <a:xfrm>
              <a:off x="9950765" y="1402835"/>
              <a:ext cx="504000" cy="504000"/>
            </a:xfrm>
            <a:prstGeom prst="roundRect">
              <a:avLst>
                <a:gd name="adj" fmla="val 20495"/>
              </a:avLst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49" name="Группа 48">
            <a:extLst>
              <a:ext uri="{FF2B5EF4-FFF2-40B4-BE49-F238E27FC236}">
                <a16:creationId xmlns:a16="http://schemas.microsoft.com/office/drawing/2014/main" id="{A8F08BE3-661B-CCF1-399B-1A7F4903DD06}"/>
              </a:ext>
            </a:extLst>
          </p:cNvPr>
          <p:cNvGrpSpPr/>
          <p:nvPr/>
        </p:nvGrpSpPr>
        <p:grpSpPr>
          <a:xfrm>
            <a:off x="334962" y="1819350"/>
            <a:ext cx="11522074" cy="365125"/>
            <a:chOff x="334964" y="-369527"/>
            <a:chExt cx="11522074" cy="310896"/>
          </a:xfrm>
        </p:grpSpPr>
        <p:sp>
          <p:nvSpPr>
            <p:cNvPr id="44" name="Rounded Rectangle 35">
              <a:extLst>
                <a:ext uri="{FF2B5EF4-FFF2-40B4-BE49-F238E27FC236}">
                  <a16:creationId xmlns:a16="http://schemas.microsoft.com/office/drawing/2014/main" id="{FEA3D441-8AF3-E5F1-B4C8-E2E816F88FC7}"/>
                </a:ext>
              </a:extLst>
            </p:cNvPr>
            <p:cNvSpPr/>
            <p:nvPr/>
          </p:nvSpPr>
          <p:spPr>
            <a:xfrm>
              <a:off x="334964" y="-369527"/>
              <a:ext cx="11522074" cy="310896"/>
            </a:xfrm>
            <a:prstGeom prst="roundRect">
              <a:avLst>
                <a:gd name="adj" fmla="val 24619"/>
              </a:avLst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5" name="TextBox 36">
              <a:extLst>
                <a:ext uri="{FF2B5EF4-FFF2-40B4-BE49-F238E27FC236}">
                  <a16:creationId xmlns:a16="http://schemas.microsoft.com/office/drawing/2014/main" id="{93475F9B-8B09-6C1D-34AE-6CD2CB7B719D}"/>
                </a:ext>
              </a:extLst>
            </p:cNvPr>
            <p:cNvSpPr txBox="1"/>
            <p:nvPr/>
          </p:nvSpPr>
          <p:spPr>
            <a:xfrm>
              <a:off x="619674" y="-276879"/>
              <a:ext cx="100990" cy="144136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r>
                <a:rPr lang="en-US" sz="1100" b="1" dirty="0">
                  <a:solidFill>
                    <a:srgbClr val="0A0A0A"/>
                  </a:solidFill>
                  <a:latin typeface="SB Sans Display Semibold" panose="020B0503040504020204" pitchFamily="34" charset="0"/>
                  <a:cs typeface="SB Sans Display Semibold" panose="020B0503040504020204" pitchFamily="34" charset="0"/>
                </a:rPr>
                <a:t>#</a:t>
              </a:r>
            </a:p>
          </p:txBody>
        </p:sp>
        <p:sp>
          <p:nvSpPr>
            <p:cNvPr id="46" name="TextBox 37">
              <a:extLst>
                <a:ext uri="{FF2B5EF4-FFF2-40B4-BE49-F238E27FC236}">
                  <a16:creationId xmlns:a16="http://schemas.microsoft.com/office/drawing/2014/main" id="{ECCC8C3C-799F-5F03-F82A-F4E5882DF1FC}"/>
                </a:ext>
              </a:extLst>
            </p:cNvPr>
            <p:cNvSpPr txBox="1"/>
            <p:nvPr/>
          </p:nvSpPr>
          <p:spPr>
            <a:xfrm>
              <a:off x="7837857" y="-274176"/>
              <a:ext cx="1995739" cy="138731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ctr">
                <a:lnSpc>
                  <a:spcPct val="95000"/>
                </a:lnSpc>
              </a:pPr>
              <a:r>
                <a:rPr sz="1100" b="1" dirty="0" err="1">
                  <a:solidFill>
                    <a:srgbClr val="352C45"/>
                  </a:solidFill>
                  <a:latin typeface="SB Sans Display Semibold" panose="020B0503040504020204" pitchFamily="34" charset="0"/>
                  <a:cs typeface="SB Sans Display Semibold" panose="020B0503040504020204" pitchFamily="34" charset="0"/>
                </a:rPr>
                <a:t>Динамика</a:t>
              </a:r>
              <a:r>
                <a:rPr sz="1100" b="1" dirty="0">
                  <a:solidFill>
                    <a:srgbClr val="352C45"/>
                  </a:solidFill>
                  <a:latin typeface="SB Sans Display Semibold" panose="020B0503040504020204" pitchFamily="34" charset="0"/>
                  <a:cs typeface="SB Sans Display Semibold" panose="020B0503040504020204" pitchFamily="34" charset="0"/>
                </a:rPr>
                <a:t> </a:t>
              </a:r>
              <a:r>
                <a:rPr sz="1100" b="1" dirty="0" err="1">
                  <a:solidFill>
                    <a:srgbClr val="352C45"/>
                  </a:solidFill>
                  <a:latin typeface="SB Sans Display Semibold" panose="020B0503040504020204" pitchFamily="34" charset="0"/>
                  <a:cs typeface="SB Sans Display Semibold" panose="020B0503040504020204" pitchFamily="34" charset="0"/>
                </a:rPr>
                <a:t>к</a:t>
              </a:r>
              <a:r>
                <a:rPr sz="1100" b="1" dirty="0">
                  <a:solidFill>
                    <a:srgbClr val="352C45"/>
                  </a:solidFill>
                  <a:latin typeface="SB Sans Display Semibold" panose="020B0503040504020204" pitchFamily="34" charset="0"/>
                  <a:cs typeface="SB Sans Display Semibold" panose="020B0503040504020204" pitchFamily="34" charset="0"/>
                </a:rPr>
                <a:t> </a:t>
              </a:r>
              <a:r>
                <a:rPr sz="1100" b="1" dirty="0" err="1">
                  <a:solidFill>
                    <a:srgbClr val="352C45"/>
                  </a:solidFill>
                  <a:latin typeface="SB Sans Display Semibold" panose="020B0503040504020204" pitchFamily="34" charset="0"/>
                  <a:cs typeface="SB Sans Display Semibold" panose="020B0503040504020204" pitchFamily="34" charset="0"/>
                </a:rPr>
                <a:t>прошлой</a:t>
              </a:r>
              <a:r>
                <a:rPr sz="1100" b="1" dirty="0">
                  <a:solidFill>
                    <a:srgbClr val="352C45"/>
                  </a:solidFill>
                  <a:latin typeface="SB Sans Display Semibold" panose="020B0503040504020204" pitchFamily="34" charset="0"/>
                  <a:cs typeface="SB Sans Display Semibold" panose="020B0503040504020204" pitchFamily="34" charset="0"/>
                </a:rPr>
                <a:t> </a:t>
              </a:r>
              <a:r>
                <a:rPr sz="1100" b="1" dirty="0" err="1">
                  <a:solidFill>
                    <a:srgbClr val="352C45"/>
                  </a:solidFill>
                  <a:latin typeface="SB Sans Display Semibold" panose="020B0503040504020204" pitchFamily="34" charset="0"/>
                  <a:cs typeface="SB Sans Display Semibold" panose="020B0503040504020204" pitchFamily="34" charset="0"/>
                </a:rPr>
                <a:t>неделе</a:t>
              </a:r>
              <a:endParaRPr sz="1100" b="1" dirty="0">
                <a:solidFill>
                  <a:srgbClr val="352C45"/>
                </a:solidFill>
                <a:latin typeface="SB Sans Display Semibold" panose="020B0503040504020204" pitchFamily="34" charset="0"/>
                <a:cs typeface="SB Sans Display Semibold" panose="020B0503040504020204" pitchFamily="34" charset="0"/>
              </a:endParaRPr>
            </a:p>
          </p:txBody>
        </p:sp>
        <p:sp>
          <p:nvSpPr>
            <p:cNvPr id="47" name="TextBox 38">
              <a:extLst>
                <a:ext uri="{FF2B5EF4-FFF2-40B4-BE49-F238E27FC236}">
                  <a16:creationId xmlns:a16="http://schemas.microsoft.com/office/drawing/2014/main" id="{1EDEB62E-8E58-25CB-5162-53EA971B48C7}"/>
                </a:ext>
              </a:extLst>
            </p:cNvPr>
            <p:cNvSpPr txBox="1"/>
            <p:nvPr/>
          </p:nvSpPr>
          <p:spPr>
            <a:xfrm>
              <a:off x="10549694" y="-276879"/>
              <a:ext cx="458459" cy="144136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ctr"/>
              <a:r>
                <a:rPr sz="1100" b="1" dirty="0" err="1">
                  <a:solidFill>
                    <a:srgbClr val="352C45"/>
                  </a:solidFill>
                  <a:latin typeface="SB Sans Display Semibold" panose="020B0503040504020204" pitchFamily="34" charset="0"/>
                  <a:cs typeface="SB Sans Display Semibold" panose="020B0503040504020204" pitchFamily="34" charset="0"/>
                </a:rPr>
                <a:t>Статус</a:t>
              </a:r>
              <a:endParaRPr sz="1100" b="1" dirty="0">
                <a:solidFill>
                  <a:srgbClr val="352C45"/>
                </a:solidFill>
                <a:latin typeface="SB Sans Display Semibold" panose="020B0503040504020204" pitchFamily="34" charset="0"/>
                <a:cs typeface="SB Sans Display Semibold" panose="020B0503040504020204" pitchFamily="34" charset="0"/>
              </a:endParaRPr>
            </a:p>
          </p:txBody>
        </p:sp>
        <p:sp>
          <p:nvSpPr>
            <p:cNvPr id="48" name="TextBox 36">
              <a:extLst>
                <a:ext uri="{FF2B5EF4-FFF2-40B4-BE49-F238E27FC236}">
                  <a16:creationId xmlns:a16="http://schemas.microsoft.com/office/drawing/2014/main" id="{B89E359A-9742-F6DC-9254-CE829B7ED05B}"/>
                </a:ext>
              </a:extLst>
            </p:cNvPr>
            <p:cNvSpPr txBox="1"/>
            <p:nvPr/>
          </p:nvSpPr>
          <p:spPr>
            <a:xfrm>
              <a:off x="994142" y="-276879"/>
              <a:ext cx="655629" cy="144136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r>
                <a:rPr lang="en-US" sz="1100" b="1" dirty="0" err="1">
                  <a:solidFill>
                    <a:srgbClr val="0A0A0A"/>
                  </a:solidFill>
                  <a:latin typeface="SB Sans Display Semibold" panose="020B0503040504020204" pitchFamily="34" charset="0"/>
                  <a:cs typeface="SB Sans Display Semibold" panose="020B0503040504020204" pitchFamily="34" charset="0"/>
                </a:rPr>
                <a:t>GigaCode</a:t>
              </a:r>
              <a:endParaRPr lang="en-US" sz="1100" b="1" dirty="0">
                <a:solidFill>
                  <a:srgbClr val="0A0A0A"/>
                </a:solidFill>
                <a:latin typeface="SB Sans Display Semibold" panose="020B0503040504020204" pitchFamily="34" charset="0"/>
                <a:cs typeface="SB Sans Display Semibold" panose="020B0503040504020204" pitchFamily="34" charset="0"/>
              </a:endParaRPr>
            </a:p>
          </p:txBody>
        </p:sp>
      </p:grpSp>
      <p:sp>
        <p:nvSpPr>
          <p:cNvPr id="51" name="Скругленный прямоугольник 50">
            <a:extLst>
              <a:ext uri="{FF2B5EF4-FFF2-40B4-BE49-F238E27FC236}">
                <a16:creationId xmlns:a16="http://schemas.microsoft.com/office/drawing/2014/main" id="{BB4520DF-E2E6-BE51-8C51-B25DBF5C04ED}"/>
              </a:ext>
            </a:extLst>
          </p:cNvPr>
          <p:cNvSpPr>
            <a:spLocks noChangeAspect="1"/>
          </p:cNvSpPr>
          <p:nvPr/>
        </p:nvSpPr>
        <p:spPr>
          <a:xfrm>
            <a:off x="501683" y="2314856"/>
            <a:ext cx="360000" cy="360000"/>
          </a:xfrm>
          <a:prstGeom prst="roundRect">
            <a:avLst>
              <a:gd name="adj" fmla="val 20495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1200" b="1" dirty="0">
                <a:solidFill>
                  <a:schemeClr val="accent1"/>
                </a:solidFill>
                <a:latin typeface="SB Sans Display Semibold" panose="020B0503040504020204" pitchFamily="34" charset="0"/>
                <a:cs typeface="SB Sans Display Semibold" panose="020B0503040504020204" pitchFamily="34" charset="0"/>
              </a:rPr>
              <a:t>01</a:t>
            </a:r>
            <a:endParaRPr lang="ru-RU" sz="1200" b="1" dirty="0">
              <a:solidFill>
                <a:schemeClr val="accent1"/>
              </a:solidFill>
              <a:latin typeface="SB Sans Display Semibold" panose="020B0503040504020204" pitchFamily="34" charset="0"/>
              <a:cs typeface="SB Sans Display Semibold" panose="020B0503040504020204" pitchFamily="34" charset="0"/>
            </a:endParaRPr>
          </a:p>
        </p:txBody>
      </p:sp>
      <p:sp>
        <p:nvSpPr>
          <p:cNvPr id="52" name="TextBox 67">
            <a:extLst>
              <a:ext uri="{FF2B5EF4-FFF2-40B4-BE49-F238E27FC236}">
                <a16:creationId xmlns:a16="http://schemas.microsoft.com/office/drawing/2014/main" id="{D82D718C-9649-BCEC-0EDF-91DD881F2F96}"/>
              </a:ext>
            </a:extLst>
          </p:cNvPr>
          <p:cNvSpPr txBox="1"/>
          <p:nvPr/>
        </p:nvSpPr>
        <p:spPr>
          <a:xfrm>
            <a:off x="982766" y="2314856"/>
            <a:ext cx="6755844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ru-RU" sz="1200" b="1" dirty="0">
                <a:latin typeface="SB Sans Display Semibold" panose="020B0503040504020204" pitchFamily="34" charset="0"/>
                <a:cs typeface="SB Sans Display Semibold" panose="020B0503040504020204" pitchFamily="34" charset="0"/>
              </a:rPr>
              <a:t>Нестабильная работа модели GLM-5.3-Flash: системные сбои в генерации, деградация производительности 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6BFF550B-352D-5D1D-95CA-755781D588ED}"/>
              </a:ext>
            </a:extLst>
          </p:cNvPr>
          <p:cNvSpPr txBox="1"/>
          <p:nvPr/>
        </p:nvSpPr>
        <p:spPr>
          <a:xfrm>
            <a:off x="969300" y="2777995"/>
            <a:ext cx="6751922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ru-RU" sz="1000" dirty="0">
                <a:solidFill>
                  <a:srgbClr val="64748B"/>
                </a:solidFill>
                <a:latin typeface="SB Sans Display Light" panose="020B0303040504020204" pitchFamily="34" charset="0"/>
                <a:cs typeface="SB Sans Display Light" panose="020B0303040504020204" pitchFamily="34" charset="0"/>
              </a:rPr>
              <a:t>«Коллеги, добрый день. У вас второй день погибает </a:t>
            </a:r>
            <a:r>
              <a:rPr lang="ru-RU" sz="1000" dirty="0" err="1">
                <a:solidFill>
                  <a:srgbClr val="64748B"/>
                </a:solidFill>
                <a:latin typeface="SB Sans Display Light" panose="020B0303040504020204" pitchFamily="34" charset="0"/>
                <a:cs typeface="SB Sans Display Light" panose="020B0303040504020204" pitchFamily="34" charset="0"/>
              </a:rPr>
              <a:t>инференс</a:t>
            </a:r>
            <a:r>
              <a:rPr lang="ru-RU" sz="1000" dirty="0">
                <a:solidFill>
                  <a:srgbClr val="64748B"/>
                </a:solidFill>
                <a:latin typeface="SB Sans Display Light" panose="020B0303040504020204" pitchFamily="34" charset="0"/>
                <a:cs typeface="SB Sans Display Light" panose="020B0303040504020204" pitchFamily="34" charset="0"/>
              </a:rPr>
              <a:t> на GLM, можно что то с этим сделать? </a:t>
            </a:r>
            <a:r>
              <a:rPr lang="ru-RU" sz="1000" dirty="0" smtClean="0">
                <a:solidFill>
                  <a:srgbClr val="64748B"/>
                </a:solidFill>
                <a:latin typeface="SB Sans Display Light" panose="020B0303040504020204" pitchFamily="34" charset="0"/>
                <a:cs typeface="SB Sans Display Light" panose="020B0303040504020204" pitchFamily="34" charset="0"/>
              </a:rPr>
              <a:t>…»</a:t>
            </a:r>
          </a:p>
        </p:txBody>
      </p:sp>
      <p:sp>
        <p:nvSpPr>
          <p:cNvPr id="55" name="TextBox 11">
            <a:extLst>
              <a:ext uri="{FF2B5EF4-FFF2-40B4-BE49-F238E27FC236}">
                <a16:creationId xmlns:a16="http://schemas.microsoft.com/office/drawing/2014/main" id="{8C6A29DA-80AE-7B6F-C621-B4932278EAB8}"/>
              </a:ext>
            </a:extLst>
          </p:cNvPr>
          <p:cNvSpPr txBox="1"/>
          <p:nvPr/>
        </p:nvSpPr>
        <p:spPr>
          <a:xfrm>
            <a:off x="8513026" y="2314856"/>
            <a:ext cx="743794" cy="2154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lang="ru-RU" sz="1400" b="1" dirty="0" smtClean="0">
                <a:solidFill>
                  <a:srgbClr val="3A5A52"/>
                </a:solidFill>
                <a:latin typeface="SB Sans Display Semibold" panose="020B0503040504020204" pitchFamily="34" charset="0"/>
                <a:cs typeface="SB Sans Display Semibold" panose="020B0503040504020204" pitchFamily="34" charset="0"/>
              </a:rPr>
              <a:t>36</a:t>
            </a:r>
            <a:r>
              <a:rPr lang="ru-RU" sz="1400" dirty="0" smtClean="0">
                <a:solidFill>
                  <a:srgbClr val="3A5A52"/>
                </a:solidFill>
                <a:latin typeface="SB Sans Display" panose="020B0503040504020204" pitchFamily="34" charset="0"/>
                <a:cs typeface="SB Sans Display" panose="020B0503040504020204" pitchFamily="34" charset="0"/>
              </a:rPr>
              <a:t> </a:t>
            </a:r>
            <a:r>
              <a:rPr lang="ru-RU" sz="1400" dirty="0" err="1">
                <a:solidFill>
                  <a:srgbClr val="64748B"/>
                </a:solidFill>
                <a:latin typeface="SB Sans Display" panose="020B0503040504020204" pitchFamily="34" charset="0"/>
                <a:cs typeface="SB Sans Display" panose="020B0503040504020204" pitchFamily="34" charset="0"/>
              </a:rPr>
              <a:t>упом</a:t>
            </a:r>
            <a:r>
              <a:rPr lang="ru-RU" sz="1400" dirty="0">
                <a:solidFill>
                  <a:srgbClr val="64748B"/>
                </a:solidFill>
                <a:latin typeface="SB Sans Display" panose="020B0503040504020204" pitchFamily="34" charset="0"/>
                <a:cs typeface="SB Sans Display" panose="020B0503040504020204" pitchFamily="34" charset="0"/>
              </a:rPr>
              <a:t>.</a:t>
            </a:r>
          </a:p>
        </p:txBody>
      </p:sp>
      <p:sp>
        <p:nvSpPr>
          <p:cNvPr id="61" name="Скругленный прямоугольник 60">
            <a:extLst>
              <a:ext uri="{FF2B5EF4-FFF2-40B4-BE49-F238E27FC236}">
                <a16:creationId xmlns:a16="http://schemas.microsoft.com/office/drawing/2014/main" id="{23BED6C6-A2B3-3138-F6D4-51D4AFA44C70}"/>
              </a:ext>
            </a:extLst>
          </p:cNvPr>
          <p:cNvSpPr/>
          <p:nvPr/>
        </p:nvSpPr>
        <p:spPr>
          <a:xfrm>
            <a:off x="9949428" y="2348570"/>
            <a:ext cx="1800000" cy="561157"/>
          </a:xfrm>
          <a:prstGeom prst="roundRect">
            <a:avLst>
              <a:gd name="adj" fmla="val 12628"/>
            </a:avLst>
          </a:prstGeom>
          <a:solidFill>
            <a:schemeClr val="accent1">
              <a:lumMod val="20000"/>
              <a:lumOff val="80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57F01B47-81E4-3A95-E575-5CD090EC3A08}"/>
              </a:ext>
            </a:extLst>
          </p:cNvPr>
          <p:cNvSpPr txBox="1"/>
          <p:nvPr/>
        </p:nvSpPr>
        <p:spPr>
          <a:xfrm>
            <a:off x="9949429" y="2429093"/>
            <a:ext cx="1800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000" dirty="0">
                <a:latin typeface="SB Sans Display Light" panose="020B0303040504020204" pitchFamily="34" charset="0"/>
                <a:cs typeface="SB Sans Display Light" panose="020B0303040504020204" pitchFamily="34" charset="0"/>
              </a:rPr>
              <a:t>о</a:t>
            </a:r>
            <a:r>
              <a:rPr lang="ru-RU" sz="1000" dirty="0" smtClean="0">
                <a:latin typeface="SB Sans Display Light" panose="020B0303040504020204" pitchFamily="34" charset="0"/>
                <a:cs typeface="SB Sans Display Light" panose="020B0303040504020204" pitchFamily="34" charset="0"/>
              </a:rPr>
              <a:t>граничение текущей инфраструктуры</a:t>
            </a:r>
            <a:endParaRPr lang="ru-RU" sz="1000" dirty="0">
              <a:latin typeface="SB Sans Display Light" panose="020B0303040504020204" pitchFamily="34" charset="0"/>
              <a:cs typeface="SB Sans Display Light" panose="020B0303040504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1CDCC84-8034-7AB5-0E33-86982C520A9D}"/>
              </a:ext>
            </a:extLst>
          </p:cNvPr>
          <p:cNvSpPr txBox="1"/>
          <p:nvPr/>
        </p:nvSpPr>
        <p:spPr>
          <a:xfrm>
            <a:off x="668111" y="6501110"/>
            <a:ext cx="841577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9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alpha val="60000"/>
                  </a:prstClr>
                </a:solidFill>
                <a:effectLst/>
                <a:uLnTx/>
                <a:uFillTx/>
                <a:latin typeface="SB Sans Display Light" panose="020B0303040504020204" pitchFamily="34" charset="0"/>
                <a:ea typeface="+mn-ea"/>
                <a:cs typeface="SB Sans Display Light" panose="020B0303040504020204" pitchFamily="34" charset="0"/>
              </a:rPr>
              <a:t>В списке болей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B518E869-B1D9-C549-8AEF-A905613F0A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3007" y="6462359"/>
            <a:ext cx="216000" cy="2160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E213736-35B3-F4AF-DCED-5EE8DF7E3E71}"/>
              </a:ext>
            </a:extLst>
          </p:cNvPr>
          <p:cNvSpPr txBox="1"/>
          <p:nvPr/>
        </p:nvSpPr>
        <p:spPr>
          <a:xfrm>
            <a:off x="2303321" y="6454943"/>
            <a:ext cx="1593385" cy="230832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900" b="0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alpha val="60000"/>
                  </a:schemeClr>
                </a:solidFill>
                <a:effectLst/>
                <a:uLnTx/>
                <a:uFillTx/>
                <a:latin typeface="SB Sans Display Light" panose="020B0303040504020204" pitchFamily="34" charset="0"/>
                <a:ea typeface="+mn-ea"/>
                <a:cs typeface="SB Sans Display Light" panose="020B0303040504020204" pitchFamily="34" charset="0"/>
              </a:rPr>
              <a:t>На анализе (кандидат в боль)</a:t>
            </a:r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89C4E92F-07CA-83A4-82D1-AA282ABE959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000315" y="6462359"/>
            <a:ext cx="216000" cy="216000"/>
          </a:xfrm>
          <a:prstGeom prst="rect">
            <a:avLst/>
          </a:prstGeom>
        </p:spPr>
      </p:pic>
      <p:sp>
        <p:nvSpPr>
          <p:cNvPr id="39" name="TextBox 38">
            <a:extLst>
              <a:ext uri="{FF2B5EF4-FFF2-40B4-BE49-F238E27FC236}">
                <a16:creationId xmlns:a16="http://schemas.microsoft.com/office/drawing/2014/main" id="{21E97A4E-6D98-B2F1-43EE-A36B54A9E4A2}"/>
              </a:ext>
            </a:extLst>
          </p:cNvPr>
          <p:cNvSpPr txBox="1"/>
          <p:nvPr/>
        </p:nvSpPr>
        <p:spPr>
          <a:xfrm>
            <a:off x="4864659" y="6388787"/>
            <a:ext cx="26934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900" dirty="0">
                <a:solidFill>
                  <a:schemeClr val="tx1">
                    <a:alpha val="60000"/>
                  </a:schemeClr>
                </a:solidFill>
                <a:latin typeface="SB Sans Display Light" panose="020B0303040504020204" pitchFamily="34" charset="0"/>
                <a:cs typeface="SB Sans Display Light" panose="020B0303040504020204" pitchFamily="34" charset="0"/>
              </a:rPr>
              <a:t>рост/сокращение/стабильность </a:t>
            </a:r>
            <a:br>
              <a:rPr lang="ru-RU" sz="900" dirty="0">
                <a:solidFill>
                  <a:schemeClr val="tx1">
                    <a:alpha val="60000"/>
                  </a:schemeClr>
                </a:solidFill>
                <a:latin typeface="SB Sans Display Light" panose="020B0303040504020204" pitchFamily="34" charset="0"/>
                <a:cs typeface="SB Sans Display Light" panose="020B0303040504020204" pitchFamily="34" charset="0"/>
              </a:rPr>
            </a:br>
            <a:r>
              <a:rPr lang="ru-RU" sz="900" dirty="0">
                <a:solidFill>
                  <a:schemeClr val="tx1">
                    <a:alpha val="60000"/>
                  </a:schemeClr>
                </a:solidFill>
                <a:latin typeface="SB Sans Display Light" panose="020B0303040504020204" pitchFamily="34" charset="0"/>
                <a:cs typeface="SB Sans Display Light" panose="020B0303040504020204" pitchFamily="34" charset="0"/>
              </a:rPr>
              <a:t>кол-ва сигналов к прошлой неделе</a:t>
            </a:r>
          </a:p>
        </p:txBody>
      </p:sp>
      <p:grpSp>
        <p:nvGrpSpPr>
          <p:cNvPr id="77" name="Группа 76">
            <a:extLst>
              <a:ext uri="{FF2B5EF4-FFF2-40B4-BE49-F238E27FC236}">
                <a16:creationId xmlns:a16="http://schemas.microsoft.com/office/drawing/2014/main" id="{ED308CA9-307E-032C-2E30-19B2F4C246AA}"/>
              </a:ext>
            </a:extLst>
          </p:cNvPr>
          <p:cNvGrpSpPr/>
          <p:nvPr/>
        </p:nvGrpSpPr>
        <p:grpSpPr>
          <a:xfrm>
            <a:off x="4394653" y="6528447"/>
            <a:ext cx="451730" cy="72000"/>
            <a:chOff x="4237003" y="6528447"/>
            <a:chExt cx="451730" cy="72000"/>
          </a:xfrm>
        </p:grpSpPr>
        <p:sp>
          <p:nvSpPr>
            <p:cNvPr id="13" name="Треугольник 131">
              <a:extLst>
                <a:ext uri="{FF2B5EF4-FFF2-40B4-BE49-F238E27FC236}">
                  <a16:creationId xmlns:a16="http://schemas.microsoft.com/office/drawing/2014/main" id="{27CC96D8-95DD-2B94-1B6C-267897544CA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237003" y="6528447"/>
              <a:ext cx="76644" cy="72000"/>
            </a:xfrm>
            <a:prstGeom prst="triangle">
              <a:avLst/>
            </a:prstGeom>
            <a:solidFill>
              <a:srgbClr val="FF0000"/>
            </a:solidFill>
            <a:ln w="25400" cap="rnd">
              <a:solidFill>
                <a:srgbClr val="FF0000"/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4" name="Треугольник 90">
              <a:extLst>
                <a:ext uri="{FF2B5EF4-FFF2-40B4-BE49-F238E27FC236}">
                  <a16:creationId xmlns:a16="http://schemas.microsoft.com/office/drawing/2014/main" id="{FB2B6D58-D647-6DD4-43FD-27743A470F70}"/>
                </a:ext>
              </a:extLst>
            </p:cNvPr>
            <p:cNvSpPr>
              <a:spLocks noChangeAspect="1"/>
            </p:cNvSpPr>
            <p:nvPr/>
          </p:nvSpPr>
          <p:spPr>
            <a:xfrm rot="10800000">
              <a:off x="4392058" y="6528447"/>
              <a:ext cx="76644" cy="72000"/>
            </a:xfrm>
            <a:prstGeom prst="triangle">
              <a:avLst/>
            </a:prstGeom>
            <a:solidFill>
              <a:srgbClr val="0B9B98"/>
            </a:solidFill>
            <a:ln w="25400" cap="rnd">
              <a:solidFill>
                <a:srgbClr val="0B9B98"/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grpSp>
          <p:nvGrpSpPr>
            <p:cNvPr id="40" name="Группа 39">
              <a:extLst>
                <a:ext uri="{FF2B5EF4-FFF2-40B4-BE49-F238E27FC236}">
                  <a16:creationId xmlns:a16="http://schemas.microsoft.com/office/drawing/2014/main" id="{36782298-4867-C45A-EB0F-59594445EF8A}"/>
                </a:ext>
              </a:extLst>
            </p:cNvPr>
            <p:cNvGrpSpPr/>
            <p:nvPr/>
          </p:nvGrpSpPr>
          <p:grpSpPr>
            <a:xfrm>
              <a:off x="4564111" y="6536568"/>
              <a:ext cx="124622" cy="55759"/>
              <a:chOff x="9520156" y="4334482"/>
              <a:chExt cx="142459" cy="58491"/>
            </a:xfrm>
          </p:grpSpPr>
          <p:cxnSp>
            <p:nvCxnSpPr>
              <p:cNvPr id="41" name="Прямая соединительная линия 40">
                <a:extLst>
                  <a:ext uri="{FF2B5EF4-FFF2-40B4-BE49-F238E27FC236}">
                    <a16:creationId xmlns:a16="http://schemas.microsoft.com/office/drawing/2014/main" id="{CAEAE8F1-CADE-1C11-5089-691B88918EE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520156" y="4334482"/>
                <a:ext cx="142459" cy="0"/>
              </a:xfrm>
              <a:prstGeom prst="line">
                <a:avLst/>
              </a:prstGeom>
              <a:ln w="28575" cap="rnd">
                <a:solidFill>
                  <a:srgbClr val="7B61FF"/>
                </a:soli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" name="Прямая соединительная линия 53">
                <a:extLst>
                  <a:ext uri="{FF2B5EF4-FFF2-40B4-BE49-F238E27FC236}">
                    <a16:creationId xmlns:a16="http://schemas.microsoft.com/office/drawing/2014/main" id="{BBF6F71A-357B-B26E-7265-4A3C79DDCD1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520156" y="4392973"/>
                <a:ext cx="142459" cy="0"/>
              </a:xfrm>
              <a:prstGeom prst="line">
                <a:avLst/>
              </a:prstGeom>
              <a:ln w="28575" cap="rnd">
                <a:solidFill>
                  <a:srgbClr val="7B61FF"/>
                </a:soli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56" name="TextBox 55">
            <a:extLst>
              <a:ext uri="{FF2B5EF4-FFF2-40B4-BE49-F238E27FC236}">
                <a16:creationId xmlns:a16="http://schemas.microsoft.com/office/drawing/2014/main" id="{A7C3A65B-A37E-B2FA-A84D-E0754146AE2C}"/>
              </a:ext>
            </a:extLst>
          </p:cNvPr>
          <p:cNvSpPr txBox="1"/>
          <p:nvPr/>
        </p:nvSpPr>
        <p:spPr>
          <a:xfrm>
            <a:off x="7685073" y="6454943"/>
            <a:ext cx="1825821" cy="230832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9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alpha val="60000"/>
                  </a:prstClr>
                </a:solidFill>
                <a:effectLst/>
                <a:uLnTx/>
                <a:uFillTx/>
                <a:latin typeface="SB Sans Display Light" panose="020B0303040504020204" pitchFamily="34" charset="0"/>
                <a:ea typeface="+mn-ea"/>
                <a:cs typeface="SB Sans Display Light" panose="020B0303040504020204" pitchFamily="34" charset="0"/>
              </a:rPr>
              <a:t>Возобновилось обсуждение темы</a:t>
            </a:r>
          </a:p>
        </p:txBody>
      </p:sp>
      <p:pic>
        <p:nvPicPr>
          <p:cNvPr id="57" name="Рисунок 56">
            <a:extLst>
              <a:ext uri="{FF2B5EF4-FFF2-40B4-BE49-F238E27FC236}">
                <a16:creationId xmlns:a16="http://schemas.microsoft.com/office/drawing/2014/main" id="{013D3D64-3E2D-247B-7911-C70DC6D5287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03665" y="6462359"/>
            <a:ext cx="216000" cy="216000"/>
          </a:xfrm>
          <a:prstGeom prst="rect">
            <a:avLst/>
          </a:prstGeom>
        </p:spPr>
      </p:pic>
      <p:sp>
        <p:nvSpPr>
          <p:cNvPr id="58" name="TextBox 57">
            <a:extLst>
              <a:ext uri="{FF2B5EF4-FFF2-40B4-BE49-F238E27FC236}">
                <a16:creationId xmlns:a16="http://schemas.microsoft.com/office/drawing/2014/main" id="{A6C7D25A-6F54-A6D5-A1E1-F4BD9BBC39CF}"/>
              </a:ext>
            </a:extLst>
          </p:cNvPr>
          <p:cNvSpPr txBox="1"/>
          <p:nvPr/>
        </p:nvSpPr>
        <p:spPr>
          <a:xfrm>
            <a:off x="10159687" y="6454943"/>
            <a:ext cx="617157" cy="230832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9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alpha val="60000"/>
                  </a:prstClr>
                </a:solidFill>
                <a:effectLst/>
                <a:uLnTx/>
                <a:uFillTx/>
                <a:latin typeface="SB Sans Display Light" panose="020B0303040504020204" pitchFamily="34" charset="0"/>
                <a:ea typeface="+mn-ea"/>
                <a:cs typeface="SB Sans Display Light" panose="020B0303040504020204" pitchFamily="34" charset="0"/>
              </a:rPr>
              <a:t>Новая тема</a:t>
            </a:r>
          </a:p>
        </p:txBody>
      </p:sp>
      <p:pic>
        <p:nvPicPr>
          <p:cNvPr id="59" name="Рисунок 58">
            <a:extLst>
              <a:ext uri="{FF2B5EF4-FFF2-40B4-BE49-F238E27FC236}">
                <a16:creationId xmlns:a16="http://schemas.microsoft.com/office/drawing/2014/main" id="{3D7D6D4E-833E-010B-BFB5-8A9654AD332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18505" y="6462359"/>
            <a:ext cx="216000" cy="216000"/>
          </a:xfrm>
          <a:prstGeom prst="rect">
            <a:avLst/>
          </a:prstGeom>
        </p:spPr>
      </p:pic>
      <p:sp>
        <p:nvSpPr>
          <p:cNvPr id="80" name="Полилиния: фигура 205">
            <a:extLst>
              <a:ext uri="{FF2B5EF4-FFF2-40B4-BE49-F238E27FC236}">
                <a16:creationId xmlns:a16="http://schemas.microsoft.com/office/drawing/2014/main" id="{01D27374-12B6-C698-AEF5-C3578F02A9C4}"/>
              </a:ext>
            </a:extLst>
          </p:cNvPr>
          <p:cNvSpPr>
            <a:spLocks noChangeAspect="1"/>
          </p:cNvSpPr>
          <p:nvPr/>
        </p:nvSpPr>
        <p:spPr bwMode="auto">
          <a:xfrm>
            <a:off x="8159556" y="1089706"/>
            <a:ext cx="192000" cy="288000"/>
          </a:xfrm>
          <a:custGeom>
            <a:avLst/>
            <a:gdLst>
              <a:gd name="connsiteX0" fmla="*/ 94728 w 158976"/>
              <a:gd name="connsiteY0" fmla="*/ 44407 h 261534"/>
              <a:gd name="connsiteX1" fmla="*/ 28688 w 158976"/>
              <a:gd name="connsiteY1" fmla="*/ 139657 h 261534"/>
              <a:gd name="connsiteX2" fmla="*/ 64248 w 158976"/>
              <a:gd name="connsiteY2" fmla="*/ 139657 h 261534"/>
              <a:gd name="connsiteX3" fmla="*/ 75678 w 158976"/>
              <a:gd name="connsiteY3" fmla="*/ 152357 h 261534"/>
              <a:gd name="connsiteX4" fmla="*/ 66788 w 158976"/>
              <a:gd name="connsiteY4" fmla="*/ 214588 h 261534"/>
              <a:gd name="connsiteX5" fmla="*/ 132828 w 158976"/>
              <a:gd name="connsiteY5" fmla="*/ 119338 h 261534"/>
              <a:gd name="connsiteX6" fmla="*/ 97268 w 158976"/>
              <a:gd name="connsiteY6" fmla="*/ 119338 h 261534"/>
              <a:gd name="connsiteX7" fmla="*/ 85838 w 158976"/>
              <a:gd name="connsiteY7" fmla="*/ 106638 h 261534"/>
              <a:gd name="connsiteX8" fmla="*/ 94728 w 158976"/>
              <a:gd name="connsiteY8" fmla="*/ 44407 h 261534"/>
              <a:gd name="connsiteX9" fmla="*/ 97268 w 158976"/>
              <a:gd name="connsiteY9" fmla="*/ 5038 h 261534"/>
              <a:gd name="connsiteX10" fmla="*/ 118858 w 158976"/>
              <a:gd name="connsiteY10" fmla="*/ 13927 h 261534"/>
              <a:gd name="connsiteX11" fmla="*/ 106158 w 158976"/>
              <a:gd name="connsiteY11" fmla="*/ 100288 h 261534"/>
              <a:gd name="connsiteX12" fmla="*/ 148068 w 158976"/>
              <a:gd name="connsiteY12" fmla="*/ 100288 h 261534"/>
              <a:gd name="connsiteX13" fmla="*/ 156958 w 158976"/>
              <a:gd name="connsiteY13" fmla="*/ 118068 h 261534"/>
              <a:gd name="connsiteX14" fmla="*/ 61708 w 158976"/>
              <a:gd name="connsiteY14" fmla="*/ 256498 h 261534"/>
              <a:gd name="connsiteX15" fmla="*/ 40118 w 158976"/>
              <a:gd name="connsiteY15" fmla="*/ 247607 h 261534"/>
              <a:gd name="connsiteX16" fmla="*/ 52818 w 158976"/>
              <a:gd name="connsiteY16" fmla="*/ 161248 h 261534"/>
              <a:gd name="connsiteX17" fmla="*/ 10908 w 158976"/>
              <a:gd name="connsiteY17" fmla="*/ 161248 h 261534"/>
              <a:gd name="connsiteX18" fmla="*/ 2018 w 158976"/>
              <a:gd name="connsiteY18" fmla="*/ 143468 h 261534"/>
              <a:gd name="connsiteX19" fmla="*/ 97268 w 158976"/>
              <a:gd name="connsiteY19" fmla="*/ 5038 h 2615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158976" h="261534">
                <a:moveTo>
                  <a:pt x="94728" y="44407"/>
                </a:moveTo>
                <a:lnTo>
                  <a:pt x="28688" y="139657"/>
                </a:lnTo>
                <a:lnTo>
                  <a:pt x="64248" y="139657"/>
                </a:lnTo>
                <a:cubicBezTo>
                  <a:pt x="70598" y="139657"/>
                  <a:pt x="75678" y="146007"/>
                  <a:pt x="75678" y="152357"/>
                </a:cubicBezTo>
                <a:lnTo>
                  <a:pt x="66788" y="214588"/>
                </a:lnTo>
                <a:lnTo>
                  <a:pt x="132828" y="119338"/>
                </a:lnTo>
                <a:lnTo>
                  <a:pt x="97268" y="119338"/>
                </a:lnTo>
                <a:cubicBezTo>
                  <a:pt x="90918" y="119338"/>
                  <a:pt x="85838" y="112988"/>
                  <a:pt x="85838" y="106638"/>
                </a:cubicBezTo>
                <a:lnTo>
                  <a:pt x="94728" y="44407"/>
                </a:lnTo>
                <a:close/>
                <a:moveTo>
                  <a:pt x="97268" y="5038"/>
                </a:moveTo>
                <a:cubicBezTo>
                  <a:pt x="104888" y="-5123"/>
                  <a:pt x="121398" y="1227"/>
                  <a:pt x="118858" y="13927"/>
                </a:cubicBezTo>
                <a:lnTo>
                  <a:pt x="106158" y="100288"/>
                </a:lnTo>
                <a:lnTo>
                  <a:pt x="148068" y="100288"/>
                </a:lnTo>
                <a:cubicBezTo>
                  <a:pt x="156958" y="100288"/>
                  <a:pt x="162038" y="110448"/>
                  <a:pt x="156958" y="118068"/>
                </a:cubicBezTo>
                <a:lnTo>
                  <a:pt x="61708" y="256498"/>
                </a:lnTo>
                <a:cubicBezTo>
                  <a:pt x="54088" y="266657"/>
                  <a:pt x="37578" y="260307"/>
                  <a:pt x="40118" y="247607"/>
                </a:cubicBezTo>
                <a:lnTo>
                  <a:pt x="52818" y="161248"/>
                </a:lnTo>
                <a:lnTo>
                  <a:pt x="10908" y="161248"/>
                </a:lnTo>
                <a:cubicBezTo>
                  <a:pt x="2018" y="161248"/>
                  <a:pt x="-3062" y="151088"/>
                  <a:pt x="2018" y="143468"/>
                </a:cubicBezTo>
                <a:lnTo>
                  <a:pt x="97268" y="5038"/>
                </a:lnTo>
                <a:close/>
              </a:path>
            </a:pathLst>
          </a:custGeom>
          <a:solidFill>
            <a:schemeClr val="accent1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B Sans Display"/>
            </a:endParaRPr>
          </a:p>
        </p:txBody>
      </p:sp>
      <p:sp>
        <p:nvSpPr>
          <p:cNvPr id="81" name="Полилиния: фигура 163">
            <a:extLst>
              <a:ext uri="{FF2B5EF4-FFF2-40B4-BE49-F238E27FC236}">
                <a16:creationId xmlns:a16="http://schemas.microsoft.com/office/drawing/2014/main" id="{FA9C5060-E0AD-7D7F-3DCE-79174C99F258}"/>
              </a:ext>
            </a:extLst>
          </p:cNvPr>
          <p:cNvSpPr>
            <a:spLocks/>
          </p:cNvSpPr>
          <p:nvPr/>
        </p:nvSpPr>
        <p:spPr bwMode="auto">
          <a:xfrm>
            <a:off x="3843299" y="1083768"/>
            <a:ext cx="216000" cy="324000"/>
          </a:xfrm>
          <a:custGeom>
            <a:avLst/>
            <a:gdLst>
              <a:gd name="connsiteX0" fmla="*/ 84765 w 152075"/>
              <a:gd name="connsiteY0" fmla="*/ 2858 h 262254"/>
              <a:gd name="connsiteX1" fmla="*/ 98736 w 152075"/>
              <a:gd name="connsiteY1" fmla="*/ 2858 h 262254"/>
              <a:gd name="connsiteX2" fmla="*/ 152075 w 152075"/>
              <a:gd name="connsiteY2" fmla="*/ 131127 h 262254"/>
              <a:gd name="connsiteX3" fmla="*/ 98736 w 152075"/>
              <a:gd name="connsiteY3" fmla="*/ 259397 h 262254"/>
              <a:gd name="connsiteX4" fmla="*/ 84765 w 152075"/>
              <a:gd name="connsiteY4" fmla="*/ 259397 h 262254"/>
              <a:gd name="connsiteX5" fmla="*/ 84765 w 152075"/>
              <a:gd name="connsiteY5" fmla="*/ 245428 h 262254"/>
              <a:gd name="connsiteX6" fmla="*/ 133025 w 152075"/>
              <a:gd name="connsiteY6" fmla="*/ 131127 h 262254"/>
              <a:gd name="connsiteX7" fmla="*/ 84765 w 152075"/>
              <a:gd name="connsiteY7" fmla="*/ 16827 h 262254"/>
              <a:gd name="connsiteX8" fmla="*/ 84765 w 152075"/>
              <a:gd name="connsiteY8" fmla="*/ 2858 h 262254"/>
              <a:gd name="connsiteX9" fmla="*/ 44125 w 152075"/>
              <a:gd name="connsiteY9" fmla="*/ 43497 h 262254"/>
              <a:gd name="connsiteX10" fmla="*/ 58095 w 152075"/>
              <a:gd name="connsiteY10" fmla="*/ 43497 h 262254"/>
              <a:gd name="connsiteX11" fmla="*/ 91115 w 152075"/>
              <a:gd name="connsiteY11" fmla="*/ 127317 h 262254"/>
              <a:gd name="connsiteX12" fmla="*/ 58095 w 152075"/>
              <a:gd name="connsiteY12" fmla="*/ 211137 h 262254"/>
              <a:gd name="connsiteX13" fmla="*/ 44125 w 152075"/>
              <a:gd name="connsiteY13" fmla="*/ 211137 h 262254"/>
              <a:gd name="connsiteX14" fmla="*/ 44125 w 152075"/>
              <a:gd name="connsiteY14" fmla="*/ 197167 h 262254"/>
              <a:gd name="connsiteX15" fmla="*/ 72065 w 152075"/>
              <a:gd name="connsiteY15" fmla="*/ 128587 h 262254"/>
              <a:gd name="connsiteX16" fmla="*/ 44125 w 152075"/>
              <a:gd name="connsiteY16" fmla="*/ 60008 h 262254"/>
              <a:gd name="connsiteX17" fmla="*/ 44125 w 152075"/>
              <a:gd name="connsiteY17" fmla="*/ 43497 h 262254"/>
              <a:gd name="connsiteX18" fmla="*/ 18725 w 152075"/>
              <a:gd name="connsiteY18" fmla="*/ 94297 h 262254"/>
              <a:gd name="connsiteX19" fmla="*/ 4755 w 152075"/>
              <a:gd name="connsiteY19" fmla="*/ 91758 h 262254"/>
              <a:gd name="connsiteX20" fmla="*/ 2215 w 152075"/>
              <a:gd name="connsiteY20" fmla="*/ 105727 h 262254"/>
              <a:gd name="connsiteX21" fmla="*/ 9836 w 152075"/>
              <a:gd name="connsiteY21" fmla="*/ 129858 h 262254"/>
              <a:gd name="connsiteX22" fmla="*/ 2215 w 152075"/>
              <a:gd name="connsiteY22" fmla="*/ 153987 h 262254"/>
              <a:gd name="connsiteX23" fmla="*/ 4755 w 152075"/>
              <a:gd name="connsiteY23" fmla="*/ 167958 h 262254"/>
              <a:gd name="connsiteX24" fmla="*/ 18725 w 152075"/>
              <a:gd name="connsiteY24" fmla="*/ 165417 h 262254"/>
              <a:gd name="connsiteX25" fmla="*/ 31425 w 152075"/>
              <a:gd name="connsiteY25" fmla="*/ 128587 h 262254"/>
              <a:gd name="connsiteX26" fmla="*/ 18725 w 152075"/>
              <a:gd name="connsiteY26" fmla="*/ 94297 h 2622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</a:cxnLst>
            <a:rect l="l" t="t" r="r" b="b"/>
            <a:pathLst>
              <a:path w="152075" h="262254">
                <a:moveTo>
                  <a:pt x="84765" y="2858"/>
                </a:moveTo>
                <a:cubicBezTo>
                  <a:pt x="88575" y="-953"/>
                  <a:pt x="94925" y="-953"/>
                  <a:pt x="98736" y="2858"/>
                </a:cubicBezTo>
                <a:cubicBezTo>
                  <a:pt x="135565" y="39687"/>
                  <a:pt x="152075" y="82867"/>
                  <a:pt x="152075" y="131127"/>
                </a:cubicBezTo>
                <a:cubicBezTo>
                  <a:pt x="152075" y="180658"/>
                  <a:pt x="135565" y="222567"/>
                  <a:pt x="98736" y="259397"/>
                </a:cubicBezTo>
                <a:cubicBezTo>
                  <a:pt x="94925" y="263208"/>
                  <a:pt x="88575" y="263208"/>
                  <a:pt x="84765" y="259397"/>
                </a:cubicBezTo>
                <a:cubicBezTo>
                  <a:pt x="80955" y="255587"/>
                  <a:pt x="80955" y="249237"/>
                  <a:pt x="84765" y="245428"/>
                </a:cubicBezTo>
                <a:cubicBezTo>
                  <a:pt x="117786" y="212408"/>
                  <a:pt x="133025" y="175577"/>
                  <a:pt x="133025" y="131127"/>
                </a:cubicBezTo>
                <a:cubicBezTo>
                  <a:pt x="133025" y="86677"/>
                  <a:pt x="119055" y="49847"/>
                  <a:pt x="84765" y="16827"/>
                </a:cubicBezTo>
                <a:cubicBezTo>
                  <a:pt x="80955" y="13017"/>
                  <a:pt x="80955" y="6667"/>
                  <a:pt x="84765" y="2858"/>
                </a:cubicBezTo>
                <a:close/>
                <a:moveTo>
                  <a:pt x="44125" y="43497"/>
                </a:moveTo>
                <a:cubicBezTo>
                  <a:pt x="47936" y="39687"/>
                  <a:pt x="54286" y="39687"/>
                  <a:pt x="58095" y="43497"/>
                </a:cubicBezTo>
                <a:cubicBezTo>
                  <a:pt x="74605" y="60008"/>
                  <a:pt x="91115" y="90487"/>
                  <a:pt x="91115" y="127317"/>
                </a:cubicBezTo>
                <a:cubicBezTo>
                  <a:pt x="91115" y="159067"/>
                  <a:pt x="79686" y="188277"/>
                  <a:pt x="58095" y="211137"/>
                </a:cubicBezTo>
                <a:cubicBezTo>
                  <a:pt x="54286" y="214947"/>
                  <a:pt x="47936" y="214947"/>
                  <a:pt x="44125" y="211137"/>
                </a:cubicBezTo>
                <a:cubicBezTo>
                  <a:pt x="40315" y="207328"/>
                  <a:pt x="40315" y="200978"/>
                  <a:pt x="44125" y="197167"/>
                </a:cubicBezTo>
                <a:cubicBezTo>
                  <a:pt x="61905" y="179387"/>
                  <a:pt x="72065" y="155258"/>
                  <a:pt x="72065" y="128587"/>
                </a:cubicBezTo>
                <a:cubicBezTo>
                  <a:pt x="72065" y="98108"/>
                  <a:pt x="58095" y="72708"/>
                  <a:pt x="44125" y="60008"/>
                </a:cubicBezTo>
                <a:cubicBezTo>
                  <a:pt x="40315" y="53658"/>
                  <a:pt x="40315" y="47308"/>
                  <a:pt x="44125" y="43497"/>
                </a:cubicBezTo>
                <a:close/>
                <a:moveTo>
                  <a:pt x="18725" y="94297"/>
                </a:moveTo>
                <a:cubicBezTo>
                  <a:pt x="14915" y="89217"/>
                  <a:pt x="8565" y="89217"/>
                  <a:pt x="4755" y="91758"/>
                </a:cubicBezTo>
                <a:cubicBezTo>
                  <a:pt x="-325" y="95567"/>
                  <a:pt x="-325" y="101917"/>
                  <a:pt x="2215" y="105727"/>
                </a:cubicBezTo>
                <a:cubicBezTo>
                  <a:pt x="7295" y="112077"/>
                  <a:pt x="9836" y="120967"/>
                  <a:pt x="9836" y="129858"/>
                </a:cubicBezTo>
                <a:cubicBezTo>
                  <a:pt x="9836" y="138747"/>
                  <a:pt x="7295" y="147637"/>
                  <a:pt x="2215" y="153987"/>
                </a:cubicBezTo>
                <a:cubicBezTo>
                  <a:pt x="-1595" y="159067"/>
                  <a:pt x="-325" y="165417"/>
                  <a:pt x="4755" y="167958"/>
                </a:cubicBezTo>
                <a:cubicBezTo>
                  <a:pt x="9836" y="171767"/>
                  <a:pt x="16186" y="170497"/>
                  <a:pt x="18725" y="165417"/>
                </a:cubicBezTo>
                <a:cubicBezTo>
                  <a:pt x="26345" y="155258"/>
                  <a:pt x="31425" y="142558"/>
                  <a:pt x="31425" y="128587"/>
                </a:cubicBezTo>
                <a:cubicBezTo>
                  <a:pt x="31425" y="117158"/>
                  <a:pt x="26345" y="104458"/>
                  <a:pt x="18725" y="94297"/>
                </a:cubicBezTo>
                <a:close/>
              </a:path>
            </a:pathLst>
          </a:custGeom>
          <a:solidFill>
            <a:schemeClr val="accent1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B Sans Display"/>
            </a:endParaRPr>
          </a:p>
        </p:txBody>
      </p:sp>
      <p:pic>
        <p:nvPicPr>
          <p:cNvPr id="84" name="Рисунок 83">
            <a:extLst>
              <a:ext uri="{FF2B5EF4-FFF2-40B4-BE49-F238E27FC236}">
                <a16:creationId xmlns:a16="http://schemas.microsoft.com/office/drawing/2014/main" id="{AEAD1605-B56B-0230-3AC4-A8DC817B489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75047" y="1092708"/>
            <a:ext cx="288000" cy="288000"/>
          </a:xfrm>
          <a:prstGeom prst="rect">
            <a:avLst/>
          </a:prstGeom>
        </p:spPr>
      </p:pic>
      <p:pic>
        <p:nvPicPr>
          <p:cNvPr id="93" name="Рисунок 92">
            <a:extLst>
              <a:ext uri="{FF2B5EF4-FFF2-40B4-BE49-F238E27FC236}">
                <a16:creationId xmlns:a16="http://schemas.microsoft.com/office/drawing/2014/main" id="{4F82FF71-B537-EB67-D2D4-A94E9908CF0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088308" y="1125706"/>
            <a:ext cx="216000" cy="216000"/>
          </a:xfrm>
          <a:prstGeom prst="rect">
            <a:avLst/>
          </a:prstGeom>
        </p:spPr>
      </p:pic>
      <p:sp>
        <p:nvSpPr>
          <p:cNvPr id="83" name="TextBox 82">
            <a:extLst>
              <a:ext uri="{FF2B5EF4-FFF2-40B4-BE49-F238E27FC236}">
                <a16:creationId xmlns:a16="http://schemas.microsoft.com/office/drawing/2014/main" id="{F754EA60-897A-A102-5011-0F112C8FE4B7}"/>
              </a:ext>
            </a:extLst>
          </p:cNvPr>
          <p:cNvSpPr txBox="1"/>
          <p:nvPr/>
        </p:nvSpPr>
        <p:spPr bwMode="auto">
          <a:xfrm>
            <a:off x="8461724" y="2565124"/>
            <a:ext cx="846399" cy="310889"/>
          </a:xfrm>
          <a:prstGeom prst="roundRect">
            <a:avLst>
              <a:gd name="adj" fmla="val 50000"/>
            </a:avLst>
          </a:prstGeom>
          <a:solidFill>
            <a:schemeClr val="accent3">
              <a:lumMod val="20000"/>
              <a:lumOff val="80000"/>
              <a:alpha val="40000"/>
            </a:schemeClr>
          </a:solidFill>
          <a:ln w="12700">
            <a:solidFill>
              <a:schemeClr val="accent3"/>
            </a:solidFill>
          </a:ln>
          <a:effectLst/>
        </p:spPr>
        <p:txBody>
          <a:bodyPr vertOverflow="overflow" horzOverflow="overflow" vert="horz" wrap="none" lIns="108000" tIns="0" rIns="108000" bIns="0" numCol="1" spcCol="0" rtlCol="0" fromWordArt="0" anchor="ctr" anchorCtr="0" forceAA="0" compatLnSpc="0">
            <a:spAutoFit/>
          </a:bodyPr>
          <a:lstStyle>
            <a:defPPr>
              <a:defRPr lang="ru-RU"/>
            </a:defPPr>
            <a:lvl1pPr algn="ctr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200">
                <a:solidFill>
                  <a:schemeClr val="accent2"/>
                </a:solidFill>
                <a:latin typeface="SB Sans Display"/>
                <a:cs typeface="SB Sans Display"/>
              </a:defRPr>
            </a:lvl1pPr>
            <a:lvl2pPr marL="742950" indent="-285750">
              <a:defRPr>
                <a:latin typeface="SB Sans Display"/>
                <a:cs typeface="Arial"/>
              </a:defRPr>
            </a:lvl2pPr>
            <a:lvl3pPr marL="1143000" indent="-228600">
              <a:defRPr>
                <a:latin typeface="SB Sans Display"/>
                <a:cs typeface="Arial"/>
              </a:defRPr>
            </a:lvl3pPr>
            <a:lvl4pPr marL="1600200" indent="-228600">
              <a:defRPr>
                <a:latin typeface="SB Sans Display"/>
                <a:cs typeface="Arial"/>
              </a:defRPr>
            </a:lvl4pPr>
            <a:lvl5pPr marL="2057400" indent="-228600">
              <a:defRPr>
                <a:latin typeface="SB Sans Display"/>
                <a:cs typeface="Arial"/>
              </a:defRPr>
            </a:lvl5pPr>
            <a:lvl6pPr marL="2514600" indent="-228600">
              <a:spcBef>
                <a:spcPts val="0"/>
              </a:spcBef>
              <a:spcAft>
                <a:spcPts val="0"/>
              </a:spcAft>
              <a:defRPr>
                <a:latin typeface="SB Sans Display"/>
                <a:cs typeface="Arial"/>
              </a:defRPr>
            </a:lvl6pPr>
            <a:lvl7pPr marL="2971800" indent="-228600">
              <a:spcBef>
                <a:spcPts val="0"/>
              </a:spcBef>
              <a:spcAft>
                <a:spcPts val="0"/>
              </a:spcAft>
              <a:defRPr>
                <a:latin typeface="SB Sans Display"/>
                <a:cs typeface="Arial"/>
              </a:defRPr>
            </a:lvl7pPr>
            <a:lvl8pPr marL="3429000" indent="-228600">
              <a:spcBef>
                <a:spcPts val="0"/>
              </a:spcBef>
              <a:spcAft>
                <a:spcPts val="0"/>
              </a:spcAft>
              <a:defRPr>
                <a:latin typeface="SB Sans Display"/>
                <a:cs typeface="Arial"/>
              </a:defRPr>
            </a:lvl8pPr>
            <a:lvl9pPr marL="3886200" indent="-228600">
              <a:spcBef>
                <a:spcPts val="0"/>
              </a:spcBef>
              <a:spcAft>
                <a:spcPts val="0"/>
              </a:spcAft>
              <a:defRPr>
                <a:latin typeface="SB Sans Display"/>
                <a:cs typeface="Arial"/>
              </a:defRPr>
            </a:lvl9pPr>
          </a:lstStyle>
          <a:p>
            <a:pPr>
              <a:defRPr/>
            </a:pPr>
            <a:r>
              <a:rPr lang="ru-RU" b="1" dirty="0">
                <a:solidFill>
                  <a:srgbClr val="0FB880"/>
                </a:solidFill>
              </a:rPr>
              <a:t>▼</a:t>
            </a:r>
            <a:r>
              <a:rPr lang="ru-RU" dirty="0">
                <a:solidFill>
                  <a:schemeClr val="accent3"/>
                </a:solidFill>
              </a:rPr>
              <a:t> </a:t>
            </a:r>
            <a:r>
              <a:rPr lang="ru-RU" sz="1400" b="1" dirty="0" smtClean="0">
                <a:solidFill>
                  <a:schemeClr val="accent3"/>
                </a:solidFill>
                <a:latin typeface="SB Sans Display" panose="020B0503040504020204" pitchFamily="34" charset="0"/>
                <a:cs typeface="SB Sans Display" panose="020B0503040504020204" pitchFamily="34" charset="0"/>
              </a:rPr>
              <a:t>-</a:t>
            </a:r>
            <a:r>
              <a:rPr lang="ru-RU" sz="1400" b="1" dirty="0">
                <a:solidFill>
                  <a:schemeClr val="accent3"/>
                </a:solidFill>
                <a:latin typeface="SB Sans Display" panose="020B0503040504020204" pitchFamily="34" charset="0"/>
                <a:cs typeface="SB Sans Display" panose="020B0503040504020204" pitchFamily="34" charset="0"/>
              </a:rPr>
              <a:t>8</a:t>
            </a:r>
            <a:r>
              <a:rPr lang="ru-RU" sz="1400" b="1" dirty="0" smtClean="0">
                <a:solidFill>
                  <a:schemeClr val="accent3"/>
                </a:solidFill>
                <a:latin typeface="SB Sans Display" panose="020B0503040504020204" pitchFamily="34" charset="0"/>
                <a:cs typeface="SB Sans Display" panose="020B0503040504020204" pitchFamily="34" charset="0"/>
              </a:rPr>
              <a:t>%</a:t>
            </a:r>
            <a:endParaRPr sz="1400" b="1" dirty="0">
              <a:latin typeface="SB Sans Display" panose="020B0503040504020204" pitchFamily="34" charset="0"/>
              <a:cs typeface="SB Sans Display" panose="020B0503040504020204" pitchFamily="34" charset="0"/>
            </a:endParaRPr>
          </a:p>
        </p:txBody>
      </p:sp>
      <p:sp>
        <p:nvSpPr>
          <p:cNvPr id="117" name="Скругленный прямоугольник 116">
            <a:extLst>
              <a:ext uri="{FF2B5EF4-FFF2-40B4-BE49-F238E27FC236}">
                <a16:creationId xmlns:a16="http://schemas.microsoft.com/office/drawing/2014/main" id="{971B7B40-A80D-08EE-66DE-1F770F95FE32}"/>
              </a:ext>
            </a:extLst>
          </p:cNvPr>
          <p:cNvSpPr>
            <a:spLocks noChangeAspect="1"/>
          </p:cNvSpPr>
          <p:nvPr/>
        </p:nvSpPr>
        <p:spPr>
          <a:xfrm>
            <a:off x="501683" y="3159456"/>
            <a:ext cx="360000" cy="360000"/>
          </a:xfrm>
          <a:prstGeom prst="roundRect">
            <a:avLst>
              <a:gd name="adj" fmla="val 20495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ru-RU" sz="1200" b="1" dirty="0" smtClean="0">
                <a:solidFill>
                  <a:schemeClr val="accent1"/>
                </a:solidFill>
                <a:latin typeface="SB Sans Display Semibold" panose="020B0503040504020204" pitchFamily="34" charset="0"/>
                <a:cs typeface="SB Sans Display Semibold" panose="020B0503040504020204" pitchFamily="34" charset="0"/>
              </a:rPr>
              <a:t>0</a:t>
            </a:r>
            <a:r>
              <a:rPr lang="ru-RU" sz="1200" b="1" dirty="0">
                <a:solidFill>
                  <a:schemeClr val="accent1"/>
                </a:solidFill>
                <a:latin typeface="SB Sans Display Semibold" panose="020B0503040504020204" pitchFamily="34" charset="0"/>
                <a:cs typeface="SB Sans Display Semibold" panose="020B0503040504020204" pitchFamily="34" charset="0"/>
              </a:rPr>
              <a:t>2</a:t>
            </a:r>
          </a:p>
        </p:txBody>
      </p:sp>
      <p:sp>
        <p:nvSpPr>
          <p:cNvPr id="118" name="TextBox 67">
            <a:extLst>
              <a:ext uri="{FF2B5EF4-FFF2-40B4-BE49-F238E27FC236}">
                <a16:creationId xmlns:a16="http://schemas.microsoft.com/office/drawing/2014/main" id="{14BE7C5B-08B9-2331-DA98-091946E45E47}"/>
              </a:ext>
            </a:extLst>
          </p:cNvPr>
          <p:cNvSpPr txBox="1"/>
          <p:nvPr/>
        </p:nvSpPr>
        <p:spPr>
          <a:xfrm>
            <a:off x="982766" y="3159456"/>
            <a:ext cx="6755844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ru-RU" sz="1200" b="1" dirty="0" smtClean="0">
                <a:latin typeface="SB Sans Display Semibold" panose="020B0503040504020204" pitchFamily="34" charset="0"/>
                <a:cs typeface="SB Sans Display Semibold" panose="020B0503040504020204" pitchFamily="34" charset="0"/>
              </a:rPr>
              <a:t>Запросы на </a:t>
            </a:r>
            <a:r>
              <a:rPr lang="ru-RU" sz="1200" b="1" dirty="0">
                <a:latin typeface="SB Sans Display Semibold" panose="020B0503040504020204" pitchFamily="34" charset="0"/>
                <a:cs typeface="SB Sans Display Semibold" panose="020B0503040504020204" pitchFamily="34" charset="0"/>
              </a:rPr>
              <a:t>доступ к </a:t>
            </a:r>
            <a:r>
              <a:rPr lang="ru-RU" sz="1200" b="1" dirty="0" err="1">
                <a:latin typeface="SB Sans Display Semibold" panose="020B0503040504020204" pitchFamily="34" charset="0"/>
                <a:cs typeface="SB Sans Display Semibold" panose="020B0503040504020204" pitchFamily="34" charset="0"/>
              </a:rPr>
              <a:t>GigaCode</a:t>
            </a:r>
            <a:r>
              <a:rPr lang="ru-RU" sz="1200" b="1" dirty="0">
                <a:latin typeface="SB Sans Display Semibold" panose="020B0503040504020204" pitchFamily="34" charset="0"/>
                <a:cs typeface="SB Sans Display Semibold" panose="020B0503040504020204" pitchFamily="34" charset="0"/>
              </a:rPr>
              <a:t> CLI/</a:t>
            </a:r>
            <a:r>
              <a:rPr lang="ru-RU" sz="1200" b="1" dirty="0" err="1">
                <a:latin typeface="SB Sans Display Semibold" panose="020B0503040504020204" pitchFamily="34" charset="0"/>
                <a:cs typeface="SB Sans Display Semibold" panose="020B0503040504020204" pitchFamily="34" charset="0"/>
              </a:rPr>
              <a:t>Desktop</a:t>
            </a:r>
            <a:r>
              <a:rPr lang="ru-RU" sz="1200" b="1" dirty="0">
                <a:latin typeface="SB Sans Display Semibold" panose="020B0503040504020204" pitchFamily="34" charset="0"/>
                <a:cs typeface="SB Sans Display Semibold" panose="020B0503040504020204" pitchFamily="34" charset="0"/>
              </a:rPr>
              <a:t> </a:t>
            </a:r>
            <a:r>
              <a:rPr lang="ru-RU" sz="1200" b="1" dirty="0" smtClean="0">
                <a:latin typeface="SB Sans Display Semibold" panose="020B0503040504020204" pitchFamily="34" charset="0"/>
                <a:cs typeface="SB Sans Display Semibold" panose="020B0503040504020204" pitchFamily="34" charset="0"/>
              </a:rPr>
              <a:t>от сотрудников </a:t>
            </a:r>
            <a:r>
              <a:rPr lang="ru-RU" sz="1200" b="1" dirty="0">
                <a:latin typeface="SB Sans Display Semibold" panose="020B0503040504020204" pitchFamily="34" charset="0"/>
                <a:cs typeface="SB Sans Display Semibold" panose="020B0503040504020204" pitchFamily="34" charset="0"/>
              </a:rPr>
              <a:t>с </a:t>
            </a:r>
            <a:r>
              <a:rPr lang="ru-RU" sz="1200" b="1" dirty="0" smtClean="0">
                <a:latin typeface="SB Sans Display Semibold" panose="020B0503040504020204" pitchFamily="34" charset="0"/>
                <a:cs typeface="SB Sans Display Semibold" panose="020B0503040504020204" pitchFamily="34" charset="0"/>
              </a:rPr>
              <a:t>ролями, отличными </a:t>
            </a:r>
            <a:r>
              <a:rPr lang="ru-RU" sz="1200" b="1" dirty="0">
                <a:latin typeface="SB Sans Display Semibold" panose="020B0503040504020204" pitchFamily="34" charset="0"/>
                <a:cs typeface="SB Sans Display Semibold" panose="020B0503040504020204" pitchFamily="34" charset="0"/>
              </a:rPr>
              <a:t>от  </a:t>
            </a:r>
            <a:r>
              <a:rPr lang="ru-RU" sz="1200" b="1" dirty="0" smtClean="0">
                <a:latin typeface="SB Sans Display Semibold" panose="020B0503040504020204" pitchFamily="34" charset="0"/>
                <a:cs typeface="SB Sans Display Semibold" panose="020B0503040504020204" pitchFamily="34" charset="0"/>
              </a:rPr>
              <a:t>разработчик</a:t>
            </a:r>
            <a:endParaRPr lang="en" sz="1200" b="1" dirty="0">
              <a:latin typeface="SB Sans Display Semibold" panose="020B0503040504020204" pitchFamily="34" charset="0"/>
              <a:cs typeface="SB Sans Display Semibold" panose="020B0503040504020204" pitchFamily="34" charset="0"/>
            </a:endParaRPr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FC0867EB-9408-6CA0-800F-D01562CB9896}"/>
              </a:ext>
            </a:extLst>
          </p:cNvPr>
          <p:cNvSpPr txBox="1"/>
          <p:nvPr/>
        </p:nvSpPr>
        <p:spPr>
          <a:xfrm>
            <a:off x="969300" y="3593580"/>
            <a:ext cx="6751922" cy="7694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ru-RU" sz="1000" dirty="0">
                <a:solidFill>
                  <a:srgbClr val="64748B"/>
                </a:solidFill>
                <a:latin typeface="SB Sans Display Light" panose="020B0303040504020204" pitchFamily="34" charset="0"/>
                <a:cs typeface="SB Sans Display Light" panose="020B0303040504020204" pitchFamily="34" charset="0"/>
              </a:rPr>
              <a:t>«Когда </a:t>
            </a:r>
            <a:r>
              <a:rPr lang="ru-RU" sz="1000" dirty="0" err="1">
                <a:solidFill>
                  <a:srgbClr val="64748B"/>
                </a:solidFill>
                <a:latin typeface="SB Sans Display Light" panose="020B0303040504020204" pitchFamily="34" charset="0"/>
                <a:cs typeface="SB Sans Display Light" panose="020B0303040504020204" pitchFamily="34" charset="0"/>
              </a:rPr>
              <a:t>Gigacode</a:t>
            </a:r>
            <a:r>
              <a:rPr lang="ru-RU" sz="1000" dirty="0">
                <a:solidFill>
                  <a:srgbClr val="64748B"/>
                </a:solidFill>
                <a:latin typeface="SB Sans Display Light" panose="020B0303040504020204" pitchFamily="34" charset="0"/>
                <a:cs typeface="SB Sans Display Light" panose="020B0303040504020204" pitchFamily="34" charset="0"/>
              </a:rPr>
              <a:t> </a:t>
            </a:r>
            <a:r>
              <a:rPr lang="ru-RU" sz="1000" dirty="0" err="1">
                <a:solidFill>
                  <a:srgbClr val="64748B"/>
                </a:solidFill>
                <a:latin typeface="SB Sans Display Light" panose="020B0303040504020204" pitchFamily="34" charset="0"/>
                <a:cs typeface="SB Sans Display Light" panose="020B0303040504020204" pitchFamily="34" charset="0"/>
              </a:rPr>
              <a:t>Desktop</a:t>
            </a:r>
            <a:r>
              <a:rPr lang="ru-RU" sz="1000" dirty="0">
                <a:solidFill>
                  <a:srgbClr val="64748B"/>
                </a:solidFill>
                <a:latin typeface="SB Sans Display Light" panose="020B0303040504020204" pitchFamily="34" charset="0"/>
                <a:cs typeface="SB Sans Display Light" panose="020B0303040504020204" pitchFamily="34" charset="0"/>
              </a:rPr>
              <a:t> смогут использовать все сотрудники </a:t>
            </a:r>
            <a:r>
              <a:rPr lang="ru-RU" sz="1000" dirty="0" err="1">
                <a:solidFill>
                  <a:srgbClr val="64748B"/>
                </a:solidFill>
                <a:latin typeface="SB Sans Display Light" panose="020B0303040504020204" pitchFamily="34" charset="0"/>
                <a:cs typeface="SB Sans Display Light" panose="020B0303040504020204" pitchFamily="34" charset="0"/>
              </a:rPr>
              <a:t>Сбера</a:t>
            </a:r>
            <a:r>
              <a:rPr lang="ru-RU" sz="1000" dirty="0">
                <a:solidFill>
                  <a:srgbClr val="64748B"/>
                </a:solidFill>
                <a:latin typeface="SB Sans Display Light" panose="020B0303040504020204" pitchFamily="34" charset="0"/>
                <a:cs typeface="SB Sans Display Light" panose="020B0303040504020204" pitchFamily="34" charset="0"/>
              </a:rPr>
              <a:t>, а не только разработчики? Сейчас при установке через SUS проходит согласование в безопасности, которая отказывает в установке пользователям без роли "Разработчик". Я системный аналитик, Трудоустроен на основной ставке в ДЗО с должностью Менеджер и как совместитель в банке с должностью Эксперт. Говорят что надо переходить на SSD, а инструмент для этого установить невозможно</a:t>
            </a:r>
            <a:r>
              <a:rPr lang="ru-RU" sz="1000" dirty="0" smtClean="0">
                <a:solidFill>
                  <a:srgbClr val="64748B"/>
                </a:solidFill>
                <a:latin typeface="SB Sans Display Light" panose="020B0303040504020204" pitchFamily="34" charset="0"/>
                <a:cs typeface="SB Sans Display Light" panose="020B0303040504020204" pitchFamily="34" charset="0"/>
              </a:rPr>
              <a:t>.»</a:t>
            </a:r>
            <a:endParaRPr lang="ru-RU" sz="1000" dirty="0">
              <a:solidFill>
                <a:srgbClr val="64748B"/>
              </a:solidFill>
              <a:latin typeface="SB Sans Display Light" panose="020B0303040504020204" pitchFamily="34" charset="0"/>
              <a:cs typeface="SB Sans Display Light" panose="020B0303040504020204" pitchFamily="34" charset="0"/>
            </a:endParaRPr>
          </a:p>
        </p:txBody>
      </p:sp>
      <p:sp>
        <p:nvSpPr>
          <p:cNvPr id="120" name="TextBox 11">
            <a:extLst>
              <a:ext uri="{FF2B5EF4-FFF2-40B4-BE49-F238E27FC236}">
                <a16:creationId xmlns:a16="http://schemas.microsoft.com/office/drawing/2014/main" id="{530AAF53-DFCF-5E01-2095-7BA981DCDBDD}"/>
              </a:ext>
            </a:extLst>
          </p:cNvPr>
          <p:cNvSpPr txBox="1"/>
          <p:nvPr/>
        </p:nvSpPr>
        <p:spPr>
          <a:xfrm>
            <a:off x="8531653" y="3159456"/>
            <a:ext cx="706540" cy="2154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lang="ru-RU" sz="1400" b="1" dirty="0" smtClean="0">
                <a:solidFill>
                  <a:srgbClr val="3A5A52"/>
                </a:solidFill>
                <a:latin typeface="SB Sans Display Semibold" panose="020B0503040504020204" pitchFamily="34" charset="0"/>
                <a:cs typeface="SB Sans Display Semibold" panose="020B0503040504020204" pitchFamily="34" charset="0"/>
              </a:rPr>
              <a:t>13</a:t>
            </a:r>
            <a:r>
              <a:rPr lang="ru-RU" sz="1400" dirty="0" smtClean="0">
                <a:solidFill>
                  <a:srgbClr val="3A5A52"/>
                </a:solidFill>
                <a:latin typeface="SB Sans Display" panose="020B0503040504020204" pitchFamily="34" charset="0"/>
                <a:cs typeface="SB Sans Display" panose="020B0503040504020204" pitchFamily="34" charset="0"/>
              </a:rPr>
              <a:t> </a:t>
            </a:r>
            <a:r>
              <a:rPr lang="ru-RU" sz="1400" dirty="0" err="1">
                <a:solidFill>
                  <a:srgbClr val="64748B"/>
                </a:solidFill>
                <a:latin typeface="SB Sans Display" panose="020B0503040504020204" pitchFamily="34" charset="0"/>
                <a:cs typeface="SB Sans Display" panose="020B0503040504020204" pitchFamily="34" charset="0"/>
              </a:rPr>
              <a:t>упом</a:t>
            </a:r>
            <a:r>
              <a:rPr lang="ru-RU" sz="1400" dirty="0">
                <a:solidFill>
                  <a:srgbClr val="64748B"/>
                </a:solidFill>
                <a:latin typeface="SB Sans Display" panose="020B0503040504020204" pitchFamily="34" charset="0"/>
                <a:cs typeface="SB Sans Display" panose="020B0503040504020204" pitchFamily="34" charset="0"/>
              </a:rPr>
              <a:t>.</a:t>
            </a:r>
          </a:p>
        </p:txBody>
      </p:sp>
      <p:sp>
        <p:nvSpPr>
          <p:cNvPr id="121" name="Скругленный прямоугольник 120">
            <a:extLst>
              <a:ext uri="{FF2B5EF4-FFF2-40B4-BE49-F238E27FC236}">
                <a16:creationId xmlns:a16="http://schemas.microsoft.com/office/drawing/2014/main" id="{069DBC5D-25CB-62D4-15CC-6C67CC5A6B22}"/>
              </a:ext>
            </a:extLst>
          </p:cNvPr>
          <p:cNvSpPr/>
          <p:nvPr/>
        </p:nvSpPr>
        <p:spPr>
          <a:xfrm>
            <a:off x="9949428" y="3159455"/>
            <a:ext cx="1800000" cy="1203565"/>
          </a:xfrm>
          <a:prstGeom prst="roundRect">
            <a:avLst>
              <a:gd name="adj" fmla="val 19327"/>
            </a:avLst>
          </a:prstGeom>
          <a:solidFill>
            <a:schemeClr val="accent1">
              <a:lumMod val="20000"/>
              <a:lumOff val="80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2" name="TextBox 121">
            <a:extLst>
              <a:ext uri="{FF2B5EF4-FFF2-40B4-BE49-F238E27FC236}">
                <a16:creationId xmlns:a16="http://schemas.microsoft.com/office/drawing/2014/main" id="{57F01B47-81E4-3A95-E575-5CD090EC3A08}"/>
              </a:ext>
            </a:extLst>
          </p:cNvPr>
          <p:cNvSpPr txBox="1"/>
          <p:nvPr/>
        </p:nvSpPr>
        <p:spPr>
          <a:xfrm>
            <a:off x="9987687" y="3536768"/>
            <a:ext cx="127152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ru-RU" sz="1000" dirty="0" smtClean="0">
                <a:latin typeface="SB Sans Display Light" panose="020B0303040504020204" pitchFamily="34" charset="0"/>
                <a:cs typeface="SB Sans Display Light" panose="020B0303040504020204" pitchFamily="34" charset="0"/>
              </a:rPr>
              <a:t>ДЗО и </a:t>
            </a:r>
            <a:r>
              <a:rPr lang="ru-RU" sz="1000" dirty="0" err="1" smtClean="0">
                <a:latin typeface="SB Sans Display Light" panose="020B0303040504020204" pitchFamily="34" charset="0"/>
                <a:cs typeface="SB Sans Display Light" panose="020B0303040504020204" pitchFamily="34" charset="0"/>
              </a:rPr>
              <a:t>Non-agile</a:t>
            </a:r>
            <a:r>
              <a:rPr lang="ru-RU" sz="1000" dirty="0" smtClean="0">
                <a:latin typeface="SB Sans Display Light" panose="020B0303040504020204" pitchFamily="34" charset="0"/>
                <a:cs typeface="SB Sans Display Light" panose="020B0303040504020204" pitchFamily="34" charset="0"/>
              </a:rPr>
              <a:t> </a:t>
            </a:r>
            <a:r>
              <a:rPr lang="ru-RU" sz="1000" dirty="0">
                <a:latin typeface="SB Sans Display Light" panose="020B0303040504020204" pitchFamily="34" charset="0"/>
                <a:cs typeface="SB Sans Display Light" panose="020B0303040504020204" pitchFamily="34" charset="0"/>
              </a:rPr>
              <a:t>- в </a:t>
            </a:r>
            <a:r>
              <a:rPr lang="ru-RU" sz="1000" dirty="0" smtClean="0">
                <a:latin typeface="SB Sans Display Light" panose="020B0303040504020204" pitchFamily="34" charset="0"/>
                <a:cs typeface="SB Sans Display Light" panose="020B0303040504020204" pitchFamily="34" charset="0"/>
              </a:rPr>
              <a:t>анализе</a:t>
            </a:r>
            <a:endParaRPr lang="ru-RU" sz="1200" dirty="0"/>
          </a:p>
        </p:txBody>
      </p:sp>
      <p:pic>
        <p:nvPicPr>
          <p:cNvPr id="124" name="Рисунок 123">
            <a:extLst>
              <a:ext uri="{FF2B5EF4-FFF2-40B4-BE49-F238E27FC236}">
                <a16:creationId xmlns:a16="http://schemas.microsoft.com/office/drawing/2014/main" id="{15453301-1E5E-DA44-1600-AFF37D3E21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25912" y="3619540"/>
            <a:ext cx="216000" cy="216000"/>
          </a:xfrm>
          <a:prstGeom prst="rect">
            <a:avLst/>
          </a:prstGeom>
        </p:spPr>
      </p:pic>
      <p:sp>
        <p:nvSpPr>
          <p:cNvPr id="125" name="TextBox 124">
            <a:extLst>
              <a:ext uri="{FF2B5EF4-FFF2-40B4-BE49-F238E27FC236}">
                <a16:creationId xmlns:a16="http://schemas.microsoft.com/office/drawing/2014/main" id="{F754EA60-897A-A102-5011-0F112C8FE4B7}"/>
              </a:ext>
            </a:extLst>
          </p:cNvPr>
          <p:cNvSpPr txBox="1"/>
          <p:nvPr/>
        </p:nvSpPr>
        <p:spPr bwMode="auto">
          <a:xfrm>
            <a:off x="8409988" y="3425302"/>
            <a:ext cx="949870" cy="306561"/>
          </a:xfrm>
          <a:prstGeom prst="roundRect">
            <a:avLst>
              <a:gd name="adj" fmla="val 50000"/>
            </a:avLst>
          </a:prstGeom>
          <a:solidFill>
            <a:schemeClr val="accent3">
              <a:lumMod val="20000"/>
              <a:lumOff val="80000"/>
              <a:alpha val="40000"/>
            </a:schemeClr>
          </a:solidFill>
          <a:ln w="12700">
            <a:solidFill>
              <a:schemeClr val="accent3"/>
            </a:solidFill>
          </a:ln>
          <a:effectLst/>
        </p:spPr>
        <p:txBody>
          <a:bodyPr vertOverflow="overflow" horzOverflow="overflow" vert="horz" wrap="none" lIns="108000" tIns="0" rIns="108000" bIns="0" numCol="1" spcCol="0" rtlCol="0" fromWordArt="0" anchor="ctr" anchorCtr="0" forceAA="0" compatLnSpc="0">
            <a:spAutoFit/>
          </a:bodyPr>
          <a:lstStyle>
            <a:defPPr>
              <a:defRPr lang="ru-RU"/>
            </a:defPPr>
            <a:lvl1pPr algn="ctr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200">
                <a:solidFill>
                  <a:schemeClr val="accent2"/>
                </a:solidFill>
                <a:latin typeface="SB Sans Display"/>
                <a:cs typeface="SB Sans Display"/>
              </a:defRPr>
            </a:lvl1pPr>
            <a:lvl2pPr marL="742950" indent="-285750">
              <a:defRPr>
                <a:latin typeface="SB Sans Display"/>
                <a:cs typeface="Arial"/>
              </a:defRPr>
            </a:lvl2pPr>
            <a:lvl3pPr marL="1143000" indent="-228600">
              <a:defRPr>
                <a:latin typeface="SB Sans Display"/>
                <a:cs typeface="Arial"/>
              </a:defRPr>
            </a:lvl3pPr>
            <a:lvl4pPr marL="1600200" indent="-228600">
              <a:defRPr>
                <a:latin typeface="SB Sans Display"/>
                <a:cs typeface="Arial"/>
              </a:defRPr>
            </a:lvl4pPr>
            <a:lvl5pPr marL="2057400" indent="-228600">
              <a:defRPr>
                <a:latin typeface="SB Sans Display"/>
                <a:cs typeface="Arial"/>
              </a:defRPr>
            </a:lvl5pPr>
            <a:lvl6pPr marL="2514600" indent="-228600">
              <a:spcBef>
                <a:spcPts val="0"/>
              </a:spcBef>
              <a:spcAft>
                <a:spcPts val="0"/>
              </a:spcAft>
              <a:defRPr>
                <a:latin typeface="SB Sans Display"/>
                <a:cs typeface="Arial"/>
              </a:defRPr>
            </a:lvl6pPr>
            <a:lvl7pPr marL="2971800" indent="-228600">
              <a:spcBef>
                <a:spcPts val="0"/>
              </a:spcBef>
              <a:spcAft>
                <a:spcPts val="0"/>
              </a:spcAft>
              <a:defRPr>
                <a:latin typeface="SB Sans Display"/>
                <a:cs typeface="Arial"/>
              </a:defRPr>
            </a:lvl7pPr>
            <a:lvl8pPr marL="3429000" indent="-228600">
              <a:spcBef>
                <a:spcPts val="0"/>
              </a:spcBef>
              <a:spcAft>
                <a:spcPts val="0"/>
              </a:spcAft>
              <a:defRPr>
                <a:latin typeface="SB Sans Display"/>
                <a:cs typeface="Arial"/>
              </a:defRPr>
            </a:lvl8pPr>
            <a:lvl9pPr marL="3886200" indent="-228600">
              <a:spcBef>
                <a:spcPts val="0"/>
              </a:spcBef>
              <a:spcAft>
                <a:spcPts val="0"/>
              </a:spcAft>
              <a:defRPr>
                <a:latin typeface="SB Sans Display"/>
                <a:cs typeface="Arial"/>
              </a:defRPr>
            </a:lvl9pPr>
          </a:lstStyle>
          <a:p>
            <a:pPr>
              <a:defRPr/>
            </a:pPr>
            <a:r>
              <a:rPr lang="ru-RU" b="1" dirty="0">
                <a:solidFill>
                  <a:srgbClr val="0FB880"/>
                </a:solidFill>
              </a:rPr>
              <a:t>▼</a:t>
            </a:r>
            <a:r>
              <a:rPr lang="ru-RU" dirty="0">
                <a:solidFill>
                  <a:schemeClr val="accent3"/>
                </a:solidFill>
              </a:rPr>
              <a:t> </a:t>
            </a:r>
            <a:r>
              <a:rPr lang="ru-RU" sz="1400" b="1" dirty="0" smtClean="0">
                <a:solidFill>
                  <a:schemeClr val="accent3"/>
                </a:solidFill>
                <a:latin typeface="SB Sans Display" panose="020B0503040504020204" pitchFamily="34" charset="0"/>
                <a:cs typeface="SB Sans Display" panose="020B0503040504020204" pitchFamily="34" charset="0"/>
              </a:rPr>
              <a:t>-24%</a:t>
            </a:r>
            <a:endParaRPr sz="1400" b="1" dirty="0">
              <a:latin typeface="SB Sans Display" panose="020B0503040504020204" pitchFamily="34" charset="0"/>
              <a:cs typeface="SB Sans Display" panose="020B0503040504020204" pitchFamily="34" charset="0"/>
            </a:endParaRPr>
          </a:p>
        </p:txBody>
      </p:sp>
      <p:sp>
        <p:nvSpPr>
          <p:cNvPr id="126" name="Скругленный прямоугольник 125">
            <a:extLst>
              <a:ext uri="{FF2B5EF4-FFF2-40B4-BE49-F238E27FC236}">
                <a16:creationId xmlns:a16="http://schemas.microsoft.com/office/drawing/2014/main" id="{CEE176EC-23C5-C66D-3922-37D6919F0738}"/>
              </a:ext>
            </a:extLst>
          </p:cNvPr>
          <p:cNvSpPr/>
          <p:nvPr/>
        </p:nvSpPr>
        <p:spPr>
          <a:xfrm>
            <a:off x="334960" y="4548483"/>
            <a:ext cx="11522074" cy="1351031"/>
          </a:xfrm>
          <a:prstGeom prst="roundRect">
            <a:avLst>
              <a:gd name="adj" fmla="val 3769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grpSp>
        <p:nvGrpSpPr>
          <p:cNvPr id="127" name="Группа 126">
            <a:extLst>
              <a:ext uri="{FF2B5EF4-FFF2-40B4-BE49-F238E27FC236}">
                <a16:creationId xmlns:a16="http://schemas.microsoft.com/office/drawing/2014/main" id="{A4814B16-B8EA-FE90-BEC7-214E0EFB1C0B}"/>
              </a:ext>
            </a:extLst>
          </p:cNvPr>
          <p:cNvGrpSpPr/>
          <p:nvPr/>
        </p:nvGrpSpPr>
        <p:grpSpPr>
          <a:xfrm>
            <a:off x="334962" y="4516233"/>
            <a:ext cx="11522074" cy="365125"/>
            <a:chOff x="334964" y="-369527"/>
            <a:chExt cx="11522074" cy="310896"/>
          </a:xfrm>
        </p:grpSpPr>
        <p:sp>
          <p:nvSpPr>
            <p:cNvPr id="128" name="Rounded Rectangle 35">
              <a:extLst>
                <a:ext uri="{FF2B5EF4-FFF2-40B4-BE49-F238E27FC236}">
                  <a16:creationId xmlns:a16="http://schemas.microsoft.com/office/drawing/2014/main" id="{BEA4AE8B-71D0-FB5E-E010-28BC4800C0D2}"/>
                </a:ext>
              </a:extLst>
            </p:cNvPr>
            <p:cNvSpPr/>
            <p:nvPr/>
          </p:nvSpPr>
          <p:spPr>
            <a:xfrm>
              <a:off x="334964" y="-369527"/>
              <a:ext cx="11522074" cy="310896"/>
            </a:xfrm>
            <a:prstGeom prst="roundRect">
              <a:avLst>
                <a:gd name="adj" fmla="val 24619"/>
              </a:avLst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9" name="TextBox 36">
              <a:extLst>
                <a:ext uri="{FF2B5EF4-FFF2-40B4-BE49-F238E27FC236}">
                  <a16:creationId xmlns:a16="http://schemas.microsoft.com/office/drawing/2014/main" id="{73437FB3-086A-D32B-069C-88EC5B3ABC5E}"/>
                </a:ext>
              </a:extLst>
            </p:cNvPr>
            <p:cNvSpPr txBox="1"/>
            <p:nvPr/>
          </p:nvSpPr>
          <p:spPr>
            <a:xfrm>
              <a:off x="619674" y="-276879"/>
              <a:ext cx="100990" cy="144136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r>
                <a:rPr lang="en-US" sz="1100" b="1" dirty="0">
                  <a:solidFill>
                    <a:srgbClr val="0A0A0A"/>
                  </a:solidFill>
                  <a:latin typeface="SB Sans Display Semibold" panose="020B0503040504020204" pitchFamily="34" charset="0"/>
                  <a:cs typeface="SB Sans Display Semibold" panose="020B0503040504020204" pitchFamily="34" charset="0"/>
                </a:rPr>
                <a:t>#</a:t>
              </a:r>
            </a:p>
          </p:txBody>
        </p:sp>
        <p:sp>
          <p:nvSpPr>
            <p:cNvPr id="130" name="TextBox 37">
              <a:extLst>
                <a:ext uri="{FF2B5EF4-FFF2-40B4-BE49-F238E27FC236}">
                  <a16:creationId xmlns:a16="http://schemas.microsoft.com/office/drawing/2014/main" id="{8900E00D-5AA7-F9AC-AEF5-771721F9C35C}"/>
                </a:ext>
              </a:extLst>
            </p:cNvPr>
            <p:cNvSpPr txBox="1"/>
            <p:nvPr/>
          </p:nvSpPr>
          <p:spPr>
            <a:xfrm>
              <a:off x="7837857" y="-274176"/>
              <a:ext cx="1995739" cy="138731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ctr">
                <a:lnSpc>
                  <a:spcPct val="95000"/>
                </a:lnSpc>
              </a:pPr>
              <a:r>
                <a:rPr sz="1100" b="1" dirty="0" err="1">
                  <a:solidFill>
                    <a:srgbClr val="352C45"/>
                  </a:solidFill>
                  <a:latin typeface="SB Sans Display Semibold" panose="020B0503040504020204" pitchFamily="34" charset="0"/>
                  <a:cs typeface="SB Sans Display Semibold" panose="020B0503040504020204" pitchFamily="34" charset="0"/>
                </a:rPr>
                <a:t>Динамика</a:t>
              </a:r>
              <a:r>
                <a:rPr sz="1100" b="1" dirty="0">
                  <a:solidFill>
                    <a:srgbClr val="352C45"/>
                  </a:solidFill>
                  <a:latin typeface="SB Sans Display Semibold" panose="020B0503040504020204" pitchFamily="34" charset="0"/>
                  <a:cs typeface="SB Sans Display Semibold" panose="020B0503040504020204" pitchFamily="34" charset="0"/>
                </a:rPr>
                <a:t> </a:t>
              </a:r>
              <a:r>
                <a:rPr sz="1100" b="1" dirty="0" err="1">
                  <a:solidFill>
                    <a:srgbClr val="352C45"/>
                  </a:solidFill>
                  <a:latin typeface="SB Sans Display Semibold" panose="020B0503040504020204" pitchFamily="34" charset="0"/>
                  <a:cs typeface="SB Sans Display Semibold" panose="020B0503040504020204" pitchFamily="34" charset="0"/>
                </a:rPr>
                <a:t>к</a:t>
              </a:r>
              <a:r>
                <a:rPr sz="1100" b="1" dirty="0">
                  <a:solidFill>
                    <a:srgbClr val="352C45"/>
                  </a:solidFill>
                  <a:latin typeface="SB Sans Display Semibold" panose="020B0503040504020204" pitchFamily="34" charset="0"/>
                  <a:cs typeface="SB Sans Display Semibold" panose="020B0503040504020204" pitchFamily="34" charset="0"/>
                </a:rPr>
                <a:t> </a:t>
              </a:r>
              <a:r>
                <a:rPr sz="1100" b="1" dirty="0" err="1">
                  <a:solidFill>
                    <a:srgbClr val="352C45"/>
                  </a:solidFill>
                  <a:latin typeface="SB Sans Display Semibold" panose="020B0503040504020204" pitchFamily="34" charset="0"/>
                  <a:cs typeface="SB Sans Display Semibold" panose="020B0503040504020204" pitchFamily="34" charset="0"/>
                </a:rPr>
                <a:t>прошлой</a:t>
              </a:r>
              <a:r>
                <a:rPr sz="1100" b="1" dirty="0">
                  <a:solidFill>
                    <a:srgbClr val="352C45"/>
                  </a:solidFill>
                  <a:latin typeface="SB Sans Display Semibold" panose="020B0503040504020204" pitchFamily="34" charset="0"/>
                  <a:cs typeface="SB Sans Display Semibold" panose="020B0503040504020204" pitchFamily="34" charset="0"/>
                </a:rPr>
                <a:t> </a:t>
              </a:r>
              <a:r>
                <a:rPr sz="1100" b="1" dirty="0" err="1">
                  <a:solidFill>
                    <a:srgbClr val="352C45"/>
                  </a:solidFill>
                  <a:latin typeface="SB Sans Display Semibold" panose="020B0503040504020204" pitchFamily="34" charset="0"/>
                  <a:cs typeface="SB Sans Display Semibold" panose="020B0503040504020204" pitchFamily="34" charset="0"/>
                </a:rPr>
                <a:t>неделе</a:t>
              </a:r>
              <a:endParaRPr sz="1100" b="1" dirty="0">
                <a:solidFill>
                  <a:srgbClr val="352C45"/>
                </a:solidFill>
                <a:latin typeface="SB Sans Display Semibold" panose="020B0503040504020204" pitchFamily="34" charset="0"/>
                <a:cs typeface="SB Sans Display Semibold" panose="020B0503040504020204" pitchFamily="34" charset="0"/>
              </a:endParaRPr>
            </a:p>
          </p:txBody>
        </p:sp>
        <p:sp>
          <p:nvSpPr>
            <p:cNvPr id="131" name="TextBox 38">
              <a:extLst>
                <a:ext uri="{FF2B5EF4-FFF2-40B4-BE49-F238E27FC236}">
                  <a16:creationId xmlns:a16="http://schemas.microsoft.com/office/drawing/2014/main" id="{65D23FB6-2352-4D06-338D-E3FC7DB791BD}"/>
                </a:ext>
              </a:extLst>
            </p:cNvPr>
            <p:cNvSpPr txBox="1"/>
            <p:nvPr/>
          </p:nvSpPr>
          <p:spPr>
            <a:xfrm>
              <a:off x="10549694" y="-276879"/>
              <a:ext cx="458459" cy="144136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ctr"/>
              <a:r>
                <a:rPr sz="1100" b="1" dirty="0" err="1">
                  <a:solidFill>
                    <a:srgbClr val="352C45"/>
                  </a:solidFill>
                  <a:latin typeface="SB Sans Display Semibold" panose="020B0503040504020204" pitchFamily="34" charset="0"/>
                  <a:cs typeface="SB Sans Display Semibold" panose="020B0503040504020204" pitchFamily="34" charset="0"/>
                </a:rPr>
                <a:t>Статус</a:t>
              </a:r>
              <a:endParaRPr sz="1100" b="1" dirty="0">
                <a:solidFill>
                  <a:srgbClr val="352C45"/>
                </a:solidFill>
                <a:latin typeface="SB Sans Display Semibold" panose="020B0503040504020204" pitchFamily="34" charset="0"/>
                <a:cs typeface="SB Sans Display Semibold" panose="020B0503040504020204" pitchFamily="34" charset="0"/>
              </a:endParaRPr>
            </a:p>
          </p:txBody>
        </p:sp>
        <p:sp>
          <p:nvSpPr>
            <p:cNvPr id="132" name="TextBox 36">
              <a:extLst>
                <a:ext uri="{FF2B5EF4-FFF2-40B4-BE49-F238E27FC236}">
                  <a16:creationId xmlns:a16="http://schemas.microsoft.com/office/drawing/2014/main" id="{DF99FBE0-EB72-9EE6-2CD4-B06042DE7633}"/>
                </a:ext>
              </a:extLst>
            </p:cNvPr>
            <p:cNvSpPr txBox="1"/>
            <p:nvPr/>
          </p:nvSpPr>
          <p:spPr>
            <a:xfrm>
              <a:off x="994142" y="-276879"/>
              <a:ext cx="1136530" cy="144136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r>
                <a:rPr lang="en-US" sz="1100" b="1" dirty="0" smtClean="0">
                  <a:solidFill>
                    <a:srgbClr val="0A0A0A"/>
                  </a:solidFill>
                  <a:latin typeface="SB Sans Display Semibold" panose="020B0503040504020204" pitchFamily="34" charset="0"/>
                  <a:cs typeface="SB Sans Display Semibold" panose="020B0503040504020204" pitchFamily="34" charset="0"/>
                </a:rPr>
                <a:t>MCP </a:t>
              </a:r>
              <a:r>
                <a:rPr lang="ru-RU" sz="1100" b="1" dirty="0" smtClean="0">
                  <a:solidFill>
                    <a:srgbClr val="0A0A0A"/>
                  </a:solidFill>
                  <a:latin typeface="SB Sans Display Semibold" panose="020B0503040504020204" pitchFamily="34" charset="0"/>
                  <a:cs typeface="SB Sans Display Semibold" panose="020B0503040504020204" pitchFamily="34" charset="0"/>
                </a:rPr>
                <a:t>в</a:t>
              </a:r>
              <a:r>
                <a:rPr lang="en-US" sz="1100" b="1" dirty="0" smtClean="0">
                  <a:solidFill>
                    <a:srgbClr val="0A0A0A"/>
                  </a:solidFill>
                  <a:latin typeface="SB Sans Display Semibold" panose="020B0503040504020204" pitchFamily="34" charset="0"/>
                  <a:cs typeface="SB Sans Display Semibold" panose="020B0503040504020204" pitchFamily="34" charset="0"/>
                </a:rPr>
                <a:t> </a:t>
              </a:r>
              <a:r>
                <a:rPr lang="en-US" sz="1100" b="1" dirty="0" err="1" smtClean="0">
                  <a:solidFill>
                    <a:srgbClr val="0A0A0A"/>
                  </a:solidFill>
                  <a:latin typeface="SB Sans Display Semibold" panose="020B0503040504020204" pitchFamily="34" charset="0"/>
                  <a:cs typeface="SB Sans Display Semibold" panose="020B0503040504020204" pitchFamily="34" charset="0"/>
                </a:rPr>
                <a:t>GigaCode</a:t>
              </a:r>
              <a:endParaRPr lang="en-US" sz="1100" b="1" dirty="0">
                <a:solidFill>
                  <a:srgbClr val="0A0A0A"/>
                </a:solidFill>
                <a:latin typeface="SB Sans Display Semibold" panose="020B0503040504020204" pitchFamily="34" charset="0"/>
                <a:cs typeface="SB Sans Display Semibold" panose="020B0503040504020204" pitchFamily="34" charset="0"/>
              </a:endParaRPr>
            </a:p>
          </p:txBody>
        </p:sp>
      </p:grpSp>
      <p:sp>
        <p:nvSpPr>
          <p:cNvPr id="133" name="Скругленный прямоугольник 132">
            <a:extLst>
              <a:ext uri="{FF2B5EF4-FFF2-40B4-BE49-F238E27FC236}">
                <a16:creationId xmlns:a16="http://schemas.microsoft.com/office/drawing/2014/main" id="{971B7B40-A80D-08EE-66DE-1F770F95FE32}"/>
              </a:ext>
            </a:extLst>
          </p:cNvPr>
          <p:cNvSpPr>
            <a:spLocks noChangeAspect="1"/>
          </p:cNvSpPr>
          <p:nvPr/>
        </p:nvSpPr>
        <p:spPr>
          <a:xfrm>
            <a:off x="501683" y="5004285"/>
            <a:ext cx="360000" cy="360000"/>
          </a:xfrm>
          <a:prstGeom prst="roundRect">
            <a:avLst>
              <a:gd name="adj" fmla="val 20495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ru-RU" sz="1200" b="1" dirty="0" smtClean="0">
                <a:solidFill>
                  <a:schemeClr val="accent1"/>
                </a:solidFill>
                <a:latin typeface="SB Sans Display Semibold" panose="020B0503040504020204" pitchFamily="34" charset="0"/>
                <a:cs typeface="SB Sans Display Semibold" panose="020B0503040504020204" pitchFamily="34" charset="0"/>
              </a:rPr>
              <a:t>0</a:t>
            </a:r>
            <a:r>
              <a:rPr lang="ru-RU" sz="1200" b="1" dirty="0">
                <a:solidFill>
                  <a:schemeClr val="accent1"/>
                </a:solidFill>
                <a:latin typeface="SB Sans Display Semibold" panose="020B0503040504020204" pitchFamily="34" charset="0"/>
                <a:cs typeface="SB Sans Display Semibold" panose="020B0503040504020204" pitchFamily="34" charset="0"/>
              </a:rPr>
              <a:t>3</a:t>
            </a:r>
          </a:p>
        </p:txBody>
      </p:sp>
      <p:sp>
        <p:nvSpPr>
          <p:cNvPr id="134" name="TextBox 67">
            <a:extLst>
              <a:ext uri="{FF2B5EF4-FFF2-40B4-BE49-F238E27FC236}">
                <a16:creationId xmlns:a16="http://schemas.microsoft.com/office/drawing/2014/main" id="{14BE7C5B-08B9-2331-DA98-091946E45E47}"/>
              </a:ext>
            </a:extLst>
          </p:cNvPr>
          <p:cNvSpPr txBox="1"/>
          <p:nvPr/>
        </p:nvSpPr>
        <p:spPr>
          <a:xfrm>
            <a:off x="982766" y="5004285"/>
            <a:ext cx="6755844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ru-RU" sz="1200" b="1" dirty="0" smtClean="0">
                <a:latin typeface="SB Sans Display Semibold" panose="020B0503040504020204" pitchFamily="34" charset="0"/>
                <a:cs typeface="SB Sans Display Semibold" panose="020B0503040504020204" pitchFamily="34" charset="0"/>
              </a:rPr>
              <a:t>Сбой в работе ранее работающего MCP </a:t>
            </a:r>
            <a:r>
              <a:rPr lang="ru-RU" sz="1200" b="1" dirty="0" err="1" smtClean="0">
                <a:latin typeface="SB Sans Display Semibold" panose="020B0503040504020204" pitchFamily="34" charset="0"/>
                <a:cs typeface="SB Sans Display Semibold" panose="020B0503040504020204" pitchFamily="34" charset="0"/>
              </a:rPr>
              <a:t>confluence-delta</a:t>
            </a:r>
            <a:r>
              <a:rPr lang="ru-RU" sz="1200" b="1" dirty="0" smtClean="0">
                <a:latin typeface="SB Sans Display Semibold" panose="020B0503040504020204" pitchFamily="34" charset="0"/>
                <a:cs typeface="SB Sans Display Semibold" panose="020B0503040504020204" pitchFamily="34" charset="0"/>
              </a:rPr>
              <a:t> </a:t>
            </a:r>
            <a:r>
              <a:rPr lang="ru-RU" sz="1200" b="1" dirty="0">
                <a:latin typeface="SB Sans Display Semibold" panose="020B0503040504020204" pitchFamily="34" charset="0"/>
                <a:cs typeface="SB Sans Display Semibold" panose="020B0503040504020204" pitchFamily="34" charset="0"/>
              </a:rPr>
              <a:t>( таймауты и ошибки 401/403 при подключении)</a:t>
            </a:r>
          </a:p>
          <a:p>
            <a:endParaRPr lang="ru-RU" sz="1200" b="1" dirty="0">
              <a:latin typeface="SB Sans Display Semibold" panose="020B0503040504020204" pitchFamily="34" charset="0"/>
              <a:cs typeface="SB Sans Display Semibold" panose="020B0503040504020204" pitchFamily="34" charset="0"/>
            </a:endParaRPr>
          </a:p>
        </p:txBody>
      </p:sp>
      <p:sp>
        <p:nvSpPr>
          <p:cNvPr id="135" name="TextBox 11">
            <a:extLst>
              <a:ext uri="{FF2B5EF4-FFF2-40B4-BE49-F238E27FC236}">
                <a16:creationId xmlns:a16="http://schemas.microsoft.com/office/drawing/2014/main" id="{530AAF53-DFCF-5E01-2095-7BA981DCDBDD}"/>
              </a:ext>
            </a:extLst>
          </p:cNvPr>
          <p:cNvSpPr txBox="1"/>
          <p:nvPr/>
        </p:nvSpPr>
        <p:spPr>
          <a:xfrm>
            <a:off x="8515431" y="5004285"/>
            <a:ext cx="738985" cy="2154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lang="ru-RU" sz="1400" b="1" dirty="0" smtClean="0">
                <a:solidFill>
                  <a:srgbClr val="3A5A52"/>
                </a:solidFill>
                <a:latin typeface="SB Sans Display Semibold" panose="020B0503040504020204" pitchFamily="34" charset="0"/>
                <a:cs typeface="SB Sans Display Semibold" panose="020B0503040504020204" pitchFamily="34" charset="0"/>
              </a:rPr>
              <a:t>3</a:t>
            </a:r>
            <a:r>
              <a:rPr lang="en-US" sz="1400" b="1" dirty="0">
                <a:solidFill>
                  <a:srgbClr val="3A5A52"/>
                </a:solidFill>
                <a:latin typeface="SB Sans Display Semibold" panose="020B0503040504020204" pitchFamily="34" charset="0"/>
                <a:cs typeface="SB Sans Display Semibold" panose="020B0503040504020204" pitchFamily="34" charset="0"/>
              </a:rPr>
              <a:t>3</a:t>
            </a:r>
            <a:r>
              <a:rPr lang="ru-RU" sz="1400" dirty="0" smtClean="0">
                <a:solidFill>
                  <a:srgbClr val="3A5A52"/>
                </a:solidFill>
                <a:latin typeface="SB Sans Display" panose="020B0503040504020204" pitchFamily="34" charset="0"/>
                <a:cs typeface="SB Sans Display" panose="020B0503040504020204" pitchFamily="34" charset="0"/>
              </a:rPr>
              <a:t> </a:t>
            </a:r>
            <a:r>
              <a:rPr lang="ru-RU" sz="1400" dirty="0" err="1">
                <a:solidFill>
                  <a:srgbClr val="64748B"/>
                </a:solidFill>
                <a:latin typeface="SB Sans Display" panose="020B0503040504020204" pitchFamily="34" charset="0"/>
                <a:cs typeface="SB Sans Display" panose="020B0503040504020204" pitchFamily="34" charset="0"/>
              </a:rPr>
              <a:t>упом</a:t>
            </a:r>
            <a:r>
              <a:rPr lang="ru-RU" sz="1400" dirty="0">
                <a:solidFill>
                  <a:srgbClr val="64748B"/>
                </a:solidFill>
                <a:latin typeface="SB Sans Display" panose="020B0503040504020204" pitchFamily="34" charset="0"/>
                <a:cs typeface="SB Sans Display" panose="020B0503040504020204" pitchFamily="34" charset="0"/>
              </a:rPr>
              <a:t>.</a:t>
            </a:r>
          </a:p>
        </p:txBody>
      </p:sp>
      <p:sp>
        <p:nvSpPr>
          <p:cNvPr id="136" name="Скругленный прямоугольник 135">
            <a:extLst>
              <a:ext uri="{FF2B5EF4-FFF2-40B4-BE49-F238E27FC236}">
                <a16:creationId xmlns:a16="http://schemas.microsoft.com/office/drawing/2014/main" id="{069DBC5D-25CB-62D4-15CC-6C67CC5A6B22}"/>
              </a:ext>
            </a:extLst>
          </p:cNvPr>
          <p:cNvSpPr/>
          <p:nvPr/>
        </p:nvSpPr>
        <p:spPr>
          <a:xfrm>
            <a:off x="9949428" y="5004285"/>
            <a:ext cx="1800000" cy="873850"/>
          </a:xfrm>
          <a:prstGeom prst="roundRect">
            <a:avLst>
              <a:gd name="adj" fmla="val 19327"/>
            </a:avLst>
          </a:prstGeom>
          <a:solidFill>
            <a:schemeClr val="accent1">
              <a:lumMod val="20000"/>
              <a:lumOff val="80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9" name="TextBox 138">
            <a:extLst>
              <a:ext uri="{FF2B5EF4-FFF2-40B4-BE49-F238E27FC236}">
                <a16:creationId xmlns:a16="http://schemas.microsoft.com/office/drawing/2014/main" id="{FC0867EB-9408-6CA0-800F-D01562CB9896}"/>
              </a:ext>
            </a:extLst>
          </p:cNvPr>
          <p:cNvSpPr txBox="1"/>
          <p:nvPr/>
        </p:nvSpPr>
        <p:spPr>
          <a:xfrm>
            <a:off x="969300" y="5453856"/>
            <a:ext cx="6751922" cy="461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ru-RU" sz="1000" dirty="0" smtClean="0">
                <a:solidFill>
                  <a:srgbClr val="64748B"/>
                </a:solidFill>
                <a:latin typeface="SB Sans Display Light" panose="020B0303040504020204" pitchFamily="34" charset="0"/>
                <a:cs typeface="SB Sans Display Light" panose="020B0303040504020204" pitchFamily="34" charset="0"/>
              </a:rPr>
              <a:t>«- Подскажите</a:t>
            </a:r>
            <a:r>
              <a:rPr lang="ru-RU" sz="1000" dirty="0">
                <a:solidFill>
                  <a:srgbClr val="64748B"/>
                </a:solidFill>
                <a:latin typeface="SB Sans Display Light" panose="020B0303040504020204" pitchFamily="34" charset="0"/>
                <a:cs typeface="SB Sans Display Light" panose="020B0303040504020204" pitchFamily="34" charset="0"/>
              </a:rPr>
              <a:t>, у всех MCP </a:t>
            </a:r>
            <a:r>
              <a:rPr lang="ru-RU" sz="1000" dirty="0" err="1">
                <a:solidFill>
                  <a:srgbClr val="64748B"/>
                </a:solidFill>
                <a:latin typeface="SB Sans Display Light" panose="020B0303040504020204" pitchFamily="34" charset="0"/>
                <a:cs typeface="SB Sans Display Light" panose="020B0303040504020204" pitchFamily="34" charset="0"/>
              </a:rPr>
              <a:t>confluence-delta</a:t>
            </a:r>
            <a:r>
              <a:rPr lang="ru-RU" sz="1000" dirty="0">
                <a:solidFill>
                  <a:srgbClr val="64748B"/>
                </a:solidFill>
                <a:latin typeface="SB Sans Display Light" panose="020B0303040504020204" pitchFamily="34" charset="0"/>
                <a:cs typeface="SB Sans Display Light" panose="020B0303040504020204" pitchFamily="34" charset="0"/>
              </a:rPr>
              <a:t> не работает, или только у меня? При этом пару дней назад работала, т.е. ошибка описанная на странице настройки с некорректным шифрованием </a:t>
            </a:r>
            <a:r>
              <a:rPr lang="ru-RU" sz="1000" dirty="0" err="1">
                <a:solidFill>
                  <a:srgbClr val="64748B"/>
                </a:solidFill>
                <a:latin typeface="SB Sans Display Light" panose="020B0303040504020204" pitchFamily="34" charset="0"/>
                <a:cs typeface="SB Sans Display Light" panose="020B0303040504020204" pitchFamily="34" charset="0"/>
              </a:rPr>
              <a:t>токена</a:t>
            </a:r>
            <a:r>
              <a:rPr lang="ru-RU" sz="1000" dirty="0">
                <a:solidFill>
                  <a:srgbClr val="64748B"/>
                </a:solidFill>
                <a:latin typeface="SB Sans Display Light" panose="020B0303040504020204" pitchFamily="34" charset="0"/>
                <a:cs typeface="SB Sans Display Light" panose="020B0303040504020204" pitchFamily="34" charset="0"/>
              </a:rPr>
              <a:t> не </a:t>
            </a:r>
            <a:r>
              <a:rPr lang="ru-RU" sz="1000" dirty="0" smtClean="0">
                <a:solidFill>
                  <a:srgbClr val="64748B"/>
                </a:solidFill>
                <a:latin typeface="SB Sans Display Light" panose="020B0303040504020204" pitchFamily="34" charset="0"/>
                <a:cs typeface="SB Sans Display Light" panose="020B0303040504020204" pitchFamily="34" charset="0"/>
              </a:rPr>
              <a:t>подходит.</a:t>
            </a:r>
          </a:p>
          <a:p>
            <a:r>
              <a:rPr lang="ru-RU" sz="1000" dirty="0" smtClean="0">
                <a:solidFill>
                  <a:srgbClr val="64748B"/>
                </a:solidFill>
                <a:latin typeface="SB Sans Display Light" panose="020B0303040504020204" pitchFamily="34" charset="0"/>
                <a:cs typeface="SB Sans Display Light" panose="020B0303040504020204" pitchFamily="34" charset="0"/>
              </a:rPr>
              <a:t>-</a:t>
            </a:r>
            <a:r>
              <a:rPr lang="ru-RU" sz="1000" dirty="0">
                <a:solidFill>
                  <a:srgbClr val="64748B"/>
                </a:solidFill>
                <a:latin typeface="SB Sans Display Light" panose="020B0303040504020204" pitchFamily="34" charset="0"/>
                <a:cs typeface="SB Sans Display Light" panose="020B0303040504020204" pitchFamily="34" charset="0"/>
              </a:rPr>
              <a:t> </a:t>
            </a:r>
            <a:r>
              <a:rPr lang="ru-RU" sz="1000" dirty="0" smtClean="0">
                <a:solidFill>
                  <a:srgbClr val="64748B"/>
                </a:solidFill>
                <a:latin typeface="SB Sans Display Light" panose="020B0303040504020204" pitchFamily="34" charset="0"/>
                <a:cs typeface="SB Sans Display Light" panose="020B0303040504020204" pitchFamily="34" charset="0"/>
              </a:rPr>
              <a:t>У меня аналогично.»</a:t>
            </a:r>
            <a:endParaRPr lang="ru-RU" sz="1000" dirty="0">
              <a:solidFill>
                <a:srgbClr val="64748B"/>
              </a:solidFill>
              <a:latin typeface="SB Sans Display Light" panose="020B0303040504020204" pitchFamily="34" charset="0"/>
              <a:cs typeface="SB Sans Display Light" panose="020B0303040504020204" pitchFamily="34" charset="0"/>
            </a:endParaRPr>
          </a:p>
        </p:txBody>
      </p:sp>
      <p:pic>
        <p:nvPicPr>
          <p:cNvPr id="141" name="Рисунок 140">
            <a:extLst>
              <a:ext uri="{FF2B5EF4-FFF2-40B4-BE49-F238E27FC236}">
                <a16:creationId xmlns:a16="http://schemas.microsoft.com/office/drawing/2014/main" id="{3D7D6D4E-833E-010B-BFB5-8A9654AD332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76923" y="5343621"/>
            <a:ext cx="216000" cy="21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84074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0B5F8B-C3C1-D1C8-6C8F-1317BC348D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Заголовок 6">
            <a:extLst>
              <a:ext uri="{FF2B5EF4-FFF2-40B4-BE49-F238E27FC236}">
                <a16:creationId xmlns:a16="http://schemas.microsoft.com/office/drawing/2014/main" id="{57AA4C68-081C-453F-DFD1-8299647A5D5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34963" y="225425"/>
            <a:ext cx="11522075" cy="547842"/>
          </a:xfrm>
        </p:spPr>
        <p:txBody>
          <a:bodyPr/>
          <a:lstStyle/>
          <a:p>
            <a:r>
              <a:rPr lang="ru-RU" sz="3200" dirty="0">
                <a:solidFill>
                  <a:srgbClr val="358AFF"/>
                </a:solidFill>
              </a:rPr>
              <a:t>Голос </a:t>
            </a:r>
            <a:r>
              <a:rPr lang="en" sz="3200" dirty="0">
                <a:solidFill>
                  <a:srgbClr val="358AFF"/>
                </a:solidFill>
              </a:rPr>
              <a:t>IT: </a:t>
            </a:r>
            <a:r>
              <a:rPr lang="ru-RU" sz="3200" dirty="0"/>
              <a:t>дайджест для программы </a:t>
            </a:r>
            <a:r>
              <a:rPr lang="en" sz="3200" dirty="0"/>
              <a:t>AI PDLC</a:t>
            </a:r>
            <a:endParaRPr lang="ru-RU" sz="3200" dirty="0"/>
          </a:p>
        </p:txBody>
      </p:sp>
      <p:sp>
        <p:nvSpPr>
          <p:cNvPr id="50" name="Скругленный прямоугольник 49">
            <a:extLst>
              <a:ext uri="{FF2B5EF4-FFF2-40B4-BE49-F238E27FC236}">
                <a16:creationId xmlns:a16="http://schemas.microsoft.com/office/drawing/2014/main" id="{CEE176EC-23C5-C66D-3922-37D6919F0738}"/>
              </a:ext>
            </a:extLst>
          </p:cNvPr>
          <p:cNvSpPr/>
          <p:nvPr/>
        </p:nvSpPr>
        <p:spPr>
          <a:xfrm>
            <a:off x="334962" y="854405"/>
            <a:ext cx="11522074" cy="2665219"/>
          </a:xfrm>
          <a:prstGeom prst="roundRect">
            <a:avLst>
              <a:gd name="adj" fmla="val 3769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C59B88DE-9A4C-473F-69C3-5B80998482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E01B13-6A4D-3E45-ABFA-8527F4FEE809}" type="slidenum">
              <a:rPr lang="ru-RU" smtClean="0"/>
              <a:pPr/>
              <a:t>2</a:t>
            </a:fld>
            <a:endParaRPr lang="ru-RU" dirty="0"/>
          </a:p>
        </p:txBody>
      </p:sp>
      <p:grpSp>
        <p:nvGrpSpPr>
          <p:cNvPr id="49" name="Группа 48">
            <a:extLst>
              <a:ext uri="{FF2B5EF4-FFF2-40B4-BE49-F238E27FC236}">
                <a16:creationId xmlns:a16="http://schemas.microsoft.com/office/drawing/2014/main" id="{A4814B16-B8EA-FE90-BEC7-214E0EFB1C0B}"/>
              </a:ext>
            </a:extLst>
          </p:cNvPr>
          <p:cNvGrpSpPr/>
          <p:nvPr/>
        </p:nvGrpSpPr>
        <p:grpSpPr>
          <a:xfrm>
            <a:off x="334964" y="814181"/>
            <a:ext cx="11522074" cy="365125"/>
            <a:chOff x="334964" y="-369527"/>
            <a:chExt cx="11522074" cy="310896"/>
          </a:xfrm>
        </p:grpSpPr>
        <p:sp>
          <p:nvSpPr>
            <p:cNvPr id="44" name="Rounded Rectangle 35">
              <a:extLst>
                <a:ext uri="{FF2B5EF4-FFF2-40B4-BE49-F238E27FC236}">
                  <a16:creationId xmlns:a16="http://schemas.microsoft.com/office/drawing/2014/main" id="{BEA4AE8B-71D0-FB5E-E010-28BC4800C0D2}"/>
                </a:ext>
              </a:extLst>
            </p:cNvPr>
            <p:cNvSpPr/>
            <p:nvPr/>
          </p:nvSpPr>
          <p:spPr>
            <a:xfrm>
              <a:off x="334964" y="-369527"/>
              <a:ext cx="11522074" cy="310896"/>
            </a:xfrm>
            <a:prstGeom prst="roundRect">
              <a:avLst>
                <a:gd name="adj" fmla="val 24619"/>
              </a:avLst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5" name="TextBox 36">
              <a:extLst>
                <a:ext uri="{FF2B5EF4-FFF2-40B4-BE49-F238E27FC236}">
                  <a16:creationId xmlns:a16="http://schemas.microsoft.com/office/drawing/2014/main" id="{73437FB3-086A-D32B-069C-88EC5B3ABC5E}"/>
                </a:ext>
              </a:extLst>
            </p:cNvPr>
            <p:cNvSpPr txBox="1"/>
            <p:nvPr/>
          </p:nvSpPr>
          <p:spPr>
            <a:xfrm>
              <a:off x="619674" y="-276879"/>
              <a:ext cx="100990" cy="144136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r>
                <a:rPr lang="en-US" sz="1100" b="1" dirty="0">
                  <a:solidFill>
                    <a:srgbClr val="0A0A0A"/>
                  </a:solidFill>
                  <a:latin typeface="SB Sans Display Semibold" panose="020B0503040504020204" pitchFamily="34" charset="0"/>
                  <a:cs typeface="SB Sans Display Semibold" panose="020B0503040504020204" pitchFamily="34" charset="0"/>
                </a:rPr>
                <a:t>#</a:t>
              </a:r>
            </a:p>
          </p:txBody>
        </p:sp>
        <p:sp>
          <p:nvSpPr>
            <p:cNvPr id="46" name="TextBox 37">
              <a:extLst>
                <a:ext uri="{FF2B5EF4-FFF2-40B4-BE49-F238E27FC236}">
                  <a16:creationId xmlns:a16="http://schemas.microsoft.com/office/drawing/2014/main" id="{8900E00D-5AA7-F9AC-AEF5-771721F9C35C}"/>
                </a:ext>
              </a:extLst>
            </p:cNvPr>
            <p:cNvSpPr txBox="1"/>
            <p:nvPr/>
          </p:nvSpPr>
          <p:spPr>
            <a:xfrm>
              <a:off x="7837857" y="-274176"/>
              <a:ext cx="1995739" cy="138731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ctr">
                <a:lnSpc>
                  <a:spcPct val="95000"/>
                </a:lnSpc>
              </a:pPr>
              <a:r>
                <a:rPr sz="1100" b="1" dirty="0" err="1">
                  <a:solidFill>
                    <a:srgbClr val="352C45"/>
                  </a:solidFill>
                  <a:latin typeface="SB Sans Display Semibold" panose="020B0503040504020204" pitchFamily="34" charset="0"/>
                  <a:cs typeface="SB Sans Display Semibold" panose="020B0503040504020204" pitchFamily="34" charset="0"/>
                </a:rPr>
                <a:t>Динамика</a:t>
              </a:r>
              <a:r>
                <a:rPr sz="1100" b="1" dirty="0">
                  <a:solidFill>
                    <a:srgbClr val="352C45"/>
                  </a:solidFill>
                  <a:latin typeface="SB Sans Display Semibold" panose="020B0503040504020204" pitchFamily="34" charset="0"/>
                  <a:cs typeface="SB Sans Display Semibold" panose="020B0503040504020204" pitchFamily="34" charset="0"/>
                </a:rPr>
                <a:t> </a:t>
              </a:r>
              <a:r>
                <a:rPr sz="1100" b="1" dirty="0" err="1">
                  <a:solidFill>
                    <a:srgbClr val="352C45"/>
                  </a:solidFill>
                  <a:latin typeface="SB Sans Display Semibold" panose="020B0503040504020204" pitchFamily="34" charset="0"/>
                  <a:cs typeface="SB Sans Display Semibold" panose="020B0503040504020204" pitchFamily="34" charset="0"/>
                </a:rPr>
                <a:t>к</a:t>
              </a:r>
              <a:r>
                <a:rPr sz="1100" b="1" dirty="0">
                  <a:solidFill>
                    <a:srgbClr val="352C45"/>
                  </a:solidFill>
                  <a:latin typeface="SB Sans Display Semibold" panose="020B0503040504020204" pitchFamily="34" charset="0"/>
                  <a:cs typeface="SB Sans Display Semibold" panose="020B0503040504020204" pitchFamily="34" charset="0"/>
                </a:rPr>
                <a:t> </a:t>
              </a:r>
              <a:r>
                <a:rPr sz="1100" b="1" dirty="0" err="1">
                  <a:solidFill>
                    <a:srgbClr val="352C45"/>
                  </a:solidFill>
                  <a:latin typeface="SB Sans Display Semibold" panose="020B0503040504020204" pitchFamily="34" charset="0"/>
                  <a:cs typeface="SB Sans Display Semibold" panose="020B0503040504020204" pitchFamily="34" charset="0"/>
                </a:rPr>
                <a:t>прошлой</a:t>
              </a:r>
              <a:r>
                <a:rPr sz="1100" b="1" dirty="0">
                  <a:solidFill>
                    <a:srgbClr val="352C45"/>
                  </a:solidFill>
                  <a:latin typeface="SB Sans Display Semibold" panose="020B0503040504020204" pitchFamily="34" charset="0"/>
                  <a:cs typeface="SB Sans Display Semibold" panose="020B0503040504020204" pitchFamily="34" charset="0"/>
                </a:rPr>
                <a:t> </a:t>
              </a:r>
              <a:r>
                <a:rPr sz="1100" b="1" dirty="0" err="1">
                  <a:solidFill>
                    <a:srgbClr val="352C45"/>
                  </a:solidFill>
                  <a:latin typeface="SB Sans Display Semibold" panose="020B0503040504020204" pitchFamily="34" charset="0"/>
                  <a:cs typeface="SB Sans Display Semibold" panose="020B0503040504020204" pitchFamily="34" charset="0"/>
                </a:rPr>
                <a:t>неделе</a:t>
              </a:r>
              <a:endParaRPr sz="1100" b="1" dirty="0">
                <a:solidFill>
                  <a:srgbClr val="352C45"/>
                </a:solidFill>
                <a:latin typeface="SB Sans Display Semibold" panose="020B0503040504020204" pitchFamily="34" charset="0"/>
                <a:cs typeface="SB Sans Display Semibold" panose="020B0503040504020204" pitchFamily="34" charset="0"/>
              </a:endParaRPr>
            </a:p>
          </p:txBody>
        </p:sp>
        <p:sp>
          <p:nvSpPr>
            <p:cNvPr id="47" name="TextBox 38">
              <a:extLst>
                <a:ext uri="{FF2B5EF4-FFF2-40B4-BE49-F238E27FC236}">
                  <a16:creationId xmlns:a16="http://schemas.microsoft.com/office/drawing/2014/main" id="{65D23FB6-2352-4D06-338D-E3FC7DB791BD}"/>
                </a:ext>
              </a:extLst>
            </p:cNvPr>
            <p:cNvSpPr txBox="1"/>
            <p:nvPr/>
          </p:nvSpPr>
          <p:spPr>
            <a:xfrm>
              <a:off x="10549694" y="-276879"/>
              <a:ext cx="458459" cy="144136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ctr"/>
              <a:r>
                <a:rPr sz="1100" b="1" dirty="0" err="1">
                  <a:solidFill>
                    <a:srgbClr val="352C45"/>
                  </a:solidFill>
                  <a:latin typeface="SB Sans Display Semibold" panose="020B0503040504020204" pitchFamily="34" charset="0"/>
                  <a:cs typeface="SB Sans Display Semibold" panose="020B0503040504020204" pitchFamily="34" charset="0"/>
                </a:rPr>
                <a:t>Статус</a:t>
              </a:r>
              <a:endParaRPr sz="1100" b="1" dirty="0">
                <a:solidFill>
                  <a:srgbClr val="352C45"/>
                </a:solidFill>
                <a:latin typeface="SB Sans Display Semibold" panose="020B0503040504020204" pitchFamily="34" charset="0"/>
                <a:cs typeface="SB Sans Display Semibold" panose="020B0503040504020204" pitchFamily="34" charset="0"/>
              </a:endParaRPr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7AA8323D-C121-4414-BA90-12C5B140C08D}"/>
              </a:ext>
            </a:extLst>
          </p:cNvPr>
          <p:cNvSpPr txBox="1"/>
          <p:nvPr/>
        </p:nvSpPr>
        <p:spPr>
          <a:xfrm>
            <a:off x="668111" y="6501110"/>
            <a:ext cx="841577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9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alpha val="60000"/>
                  </a:prstClr>
                </a:solidFill>
                <a:effectLst/>
                <a:uLnTx/>
                <a:uFillTx/>
                <a:latin typeface="SB Sans Display Light" panose="020B0303040504020204" pitchFamily="34" charset="0"/>
                <a:ea typeface="+mn-ea"/>
                <a:cs typeface="SB Sans Display Light" panose="020B0303040504020204" pitchFamily="34" charset="0"/>
              </a:rPr>
              <a:t>В списке болей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15453301-1E5E-DA44-1600-AFF37D3E21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3007" y="6462359"/>
            <a:ext cx="216000" cy="2160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037501A-F053-5A14-DB4D-6A51B840C2B6}"/>
              </a:ext>
            </a:extLst>
          </p:cNvPr>
          <p:cNvSpPr txBox="1"/>
          <p:nvPr/>
        </p:nvSpPr>
        <p:spPr>
          <a:xfrm>
            <a:off x="2303321" y="6454943"/>
            <a:ext cx="1593385" cy="230832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900" b="0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alpha val="60000"/>
                  </a:schemeClr>
                </a:solidFill>
                <a:effectLst/>
                <a:uLnTx/>
                <a:uFillTx/>
                <a:latin typeface="SB Sans Display Light" panose="020B0303040504020204" pitchFamily="34" charset="0"/>
                <a:ea typeface="+mn-ea"/>
                <a:cs typeface="SB Sans Display Light" panose="020B0303040504020204" pitchFamily="34" charset="0"/>
              </a:rPr>
              <a:t>На анализе (кандидат в боль)</a:t>
            </a:r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4F82FF71-B537-EB67-D2D4-A94E9908CF0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000315" y="6462359"/>
            <a:ext cx="216000" cy="216000"/>
          </a:xfrm>
          <a:prstGeom prst="rect">
            <a:avLst/>
          </a:prstGeom>
        </p:spPr>
      </p:pic>
      <p:sp>
        <p:nvSpPr>
          <p:cNvPr id="39" name="TextBox 38">
            <a:extLst>
              <a:ext uri="{FF2B5EF4-FFF2-40B4-BE49-F238E27FC236}">
                <a16:creationId xmlns:a16="http://schemas.microsoft.com/office/drawing/2014/main" id="{462EF187-B673-2CA6-041C-3E47ADC184CF}"/>
              </a:ext>
            </a:extLst>
          </p:cNvPr>
          <p:cNvSpPr txBox="1"/>
          <p:nvPr/>
        </p:nvSpPr>
        <p:spPr>
          <a:xfrm>
            <a:off x="4864659" y="6388787"/>
            <a:ext cx="26934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900" dirty="0">
                <a:solidFill>
                  <a:schemeClr val="tx1">
                    <a:alpha val="60000"/>
                  </a:schemeClr>
                </a:solidFill>
                <a:latin typeface="SB Sans Display Light" panose="020B0303040504020204" pitchFamily="34" charset="0"/>
                <a:cs typeface="SB Sans Display Light" panose="020B0303040504020204" pitchFamily="34" charset="0"/>
              </a:rPr>
              <a:t>рост/сокращение/стабильность </a:t>
            </a:r>
            <a:br>
              <a:rPr lang="ru-RU" sz="900" dirty="0">
                <a:solidFill>
                  <a:schemeClr val="tx1">
                    <a:alpha val="60000"/>
                  </a:schemeClr>
                </a:solidFill>
                <a:latin typeface="SB Sans Display Light" panose="020B0303040504020204" pitchFamily="34" charset="0"/>
                <a:cs typeface="SB Sans Display Light" panose="020B0303040504020204" pitchFamily="34" charset="0"/>
              </a:rPr>
            </a:br>
            <a:r>
              <a:rPr lang="ru-RU" sz="900" dirty="0">
                <a:solidFill>
                  <a:schemeClr val="tx1">
                    <a:alpha val="60000"/>
                  </a:schemeClr>
                </a:solidFill>
                <a:latin typeface="SB Sans Display Light" panose="020B0303040504020204" pitchFamily="34" charset="0"/>
                <a:cs typeface="SB Sans Display Light" panose="020B0303040504020204" pitchFamily="34" charset="0"/>
              </a:rPr>
              <a:t>кол-ва сигналов к прошлой неделе</a:t>
            </a:r>
          </a:p>
        </p:txBody>
      </p:sp>
      <p:grpSp>
        <p:nvGrpSpPr>
          <p:cNvPr id="77" name="Группа 76">
            <a:extLst>
              <a:ext uri="{FF2B5EF4-FFF2-40B4-BE49-F238E27FC236}">
                <a16:creationId xmlns:a16="http://schemas.microsoft.com/office/drawing/2014/main" id="{61762E17-F487-E27B-08E6-C73B74574ED6}"/>
              </a:ext>
            </a:extLst>
          </p:cNvPr>
          <p:cNvGrpSpPr/>
          <p:nvPr/>
        </p:nvGrpSpPr>
        <p:grpSpPr>
          <a:xfrm>
            <a:off x="4394653" y="6528447"/>
            <a:ext cx="451730" cy="72000"/>
            <a:chOff x="4237003" y="6528447"/>
            <a:chExt cx="451730" cy="72000"/>
          </a:xfrm>
        </p:grpSpPr>
        <p:sp>
          <p:nvSpPr>
            <p:cNvPr id="13" name="Треугольник 131">
              <a:extLst>
                <a:ext uri="{FF2B5EF4-FFF2-40B4-BE49-F238E27FC236}">
                  <a16:creationId xmlns:a16="http://schemas.microsoft.com/office/drawing/2014/main" id="{A8A6E710-7A3D-A1C0-4183-D7C920BC950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237003" y="6528447"/>
              <a:ext cx="76644" cy="72000"/>
            </a:xfrm>
            <a:prstGeom prst="triangle">
              <a:avLst/>
            </a:prstGeom>
            <a:solidFill>
              <a:srgbClr val="FF0000"/>
            </a:solidFill>
            <a:ln w="25400" cap="rnd">
              <a:solidFill>
                <a:srgbClr val="FF0000"/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4" name="Треугольник 90">
              <a:extLst>
                <a:ext uri="{FF2B5EF4-FFF2-40B4-BE49-F238E27FC236}">
                  <a16:creationId xmlns:a16="http://schemas.microsoft.com/office/drawing/2014/main" id="{85D50886-FFC7-EE5D-1EE8-8060DAB218F6}"/>
                </a:ext>
              </a:extLst>
            </p:cNvPr>
            <p:cNvSpPr>
              <a:spLocks noChangeAspect="1"/>
            </p:cNvSpPr>
            <p:nvPr/>
          </p:nvSpPr>
          <p:spPr>
            <a:xfrm rot="10800000">
              <a:off x="4392058" y="6528447"/>
              <a:ext cx="76644" cy="72000"/>
            </a:xfrm>
            <a:prstGeom prst="triangle">
              <a:avLst/>
            </a:prstGeom>
            <a:solidFill>
              <a:srgbClr val="0B9B98"/>
            </a:solidFill>
            <a:ln w="25400" cap="rnd">
              <a:solidFill>
                <a:srgbClr val="0B9B98"/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grpSp>
          <p:nvGrpSpPr>
            <p:cNvPr id="40" name="Группа 39">
              <a:extLst>
                <a:ext uri="{FF2B5EF4-FFF2-40B4-BE49-F238E27FC236}">
                  <a16:creationId xmlns:a16="http://schemas.microsoft.com/office/drawing/2014/main" id="{9316F318-F480-13D3-0938-B47FCC1F6EB4}"/>
                </a:ext>
              </a:extLst>
            </p:cNvPr>
            <p:cNvGrpSpPr/>
            <p:nvPr/>
          </p:nvGrpSpPr>
          <p:grpSpPr>
            <a:xfrm>
              <a:off x="4564111" y="6536568"/>
              <a:ext cx="124622" cy="55759"/>
              <a:chOff x="9520156" y="4334482"/>
              <a:chExt cx="142459" cy="58491"/>
            </a:xfrm>
          </p:grpSpPr>
          <p:cxnSp>
            <p:nvCxnSpPr>
              <p:cNvPr id="41" name="Прямая соединительная линия 40">
                <a:extLst>
                  <a:ext uri="{FF2B5EF4-FFF2-40B4-BE49-F238E27FC236}">
                    <a16:creationId xmlns:a16="http://schemas.microsoft.com/office/drawing/2014/main" id="{71579117-27AB-4C66-8150-D158DCC8041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520156" y="4334482"/>
                <a:ext cx="142459" cy="0"/>
              </a:xfrm>
              <a:prstGeom prst="line">
                <a:avLst/>
              </a:prstGeom>
              <a:ln w="28575" cap="rnd">
                <a:solidFill>
                  <a:schemeClr val="accent1"/>
                </a:soli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" name="Прямая соединительная линия 53">
                <a:extLst>
                  <a:ext uri="{FF2B5EF4-FFF2-40B4-BE49-F238E27FC236}">
                    <a16:creationId xmlns:a16="http://schemas.microsoft.com/office/drawing/2014/main" id="{475F4DA2-5FAE-1D14-AFA8-8A12D102BBB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520156" y="4392973"/>
                <a:ext cx="142459" cy="0"/>
              </a:xfrm>
              <a:prstGeom prst="line">
                <a:avLst/>
              </a:prstGeom>
              <a:ln w="28575" cap="rnd">
                <a:solidFill>
                  <a:schemeClr val="accent1"/>
                </a:soli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56" name="TextBox 55">
            <a:extLst>
              <a:ext uri="{FF2B5EF4-FFF2-40B4-BE49-F238E27FC236}">
                <a16:creationId xmlns:a16="http://schemas.microsoft.com/office/drawing/2014/main" id="{5A5AF30D-094D-AC2B-DD94-9E63257F4A58}"/>
              </a:ext>
            </a:extLst>
          </p:cNvPr>
          <p:cNvSpPr txBox="1"/>
          <p:nvPr/>
        </p:nvSpPr>
        <p:spPr>
          <a:xfrm>
            <a:off x="7685073" y="6454943"/>
            <a:ext cx="1825821" cy="230832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9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alpha val="60000"/>
                  </a:prstClr>
                </a:solidFill>
                <a:effectLst/>
                <a:uLnTx/>
                <a:uFillTx/>
                <a:latin typeface="SB Sans Display Light" panose="020B0303040504020204" pitchFamily="34" charset="0"/>
                <a:ea typeface="+mn-ea"/>
                <a:cs typeface="SB Sans Display Light" panose="020B0303040504020204" pitchFamily="34" charset="0"/>
              </a:rPr>
              <a:t>Возобновилось обсуждение темы</a:t>
            </a:r>
          </a:p>
        </p:txBody>
      </p:sp>
      <p:pic>
        <p:nvPicPr>
          <p:cNvPr id="57" name="Рисунок 56">
            <a:extLst>
              <a:ext uri="{FF2B5EF4-FFF2-40B4-BE49-F238E27FC236}">
                <a16:creationId xmlns:a16="http://schemas.microsoft.com/office/drawing/2014/main" id="{7E05C034-FBFF-348B-C4DC-A0D50BFF9B1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03665" y="6462359"/>
            <a:ext cx="216000" cy="216000"/>
          </a:xfrm>
          <a:prstGeom prst="rect">
            <a:avLst/>
          </a:prstGeom>
        </p:spPr>
      </p:pic>
      <p:sp>
        <p:nvSpPr>
          <p:cNvPr id="58" name="TextBox 57">
            <a:extLst>
              <a:ext uri="{FF2B5EF4-FFF2-40B4-BE49-F238E27FC236}">
                <a16:creationId xmlns:a16="http://schemas.microsoft.com/office/drawing/2014/main" id="{5F67B7ED-7167-C72A-072D-E9EC1356B218}"/>
              </a:ext>
            </a:extLst>
          </p:cNvPr>
          <p:cNvSpPr txBox="1"/>
          <p:nvPr/>
        </p:nvSpPr>
        <p:spPr>
          <a:xfrm>
            <a:off x="10159687" y="6454943"/>
            <a:ext cx="617157" cy="230832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9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alpha val="60000"/>
                  </a:prstClr>
                </a:solidFill>
                <a:effectLst/>
                <a:uLnTx/>
                <a:uFillTx/>
                <a:latin typeface="SB Sans Display Light" panose="020B0303040504020204" pitchFamily="34" charset="0"/>
                <a:ea typeface="+mn-ea"/>
                <a:cs typeface="SB Sans Display Light" panose="020B0303040504020204" pitchFamily="34" charset="0"/>
              </a:rPr>
              <a:t>Новая тема</a:t>
            </a:r>
          </a:p>
        </p:txBody>
      </p:sp>
      <p:pic>
        <p:nvPicPr>
          <p:cNvPr id="59" name="Рисунок 58">
            <a:extLst>
              <a:ext uri="{FF2B5EF4-FFF2-40B4-BE49-F238E27FC236}">
                <a16:creationId xmlns:a16="http://schemas.microsoft.com/office/drawing/2014/main" id="{0DE6A0E7-FBFD-B750-5F6A-ECB08FEB578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18505" y="6462359"/>
            <a:ext cx="216000" cy="216000"/>
          </a:xfrm>
          <a:prstGeom prst="rect">
            <a:avLst/>
          </a:prstGeom>
        </p:spPr>
      </p:pic>
      <p:sp>
        <p:nvSpPr>
          <p:cNvPr id="104" name="Скругленный прямоугольник 103">
            <a:extLst>
              <a:ext uri="{FF2B5EF4-FFF2-40B4-BE49-F238E27FC236}">
                <a16:creationId xmlns:a16="http://schemas.microsoft.com/office/drawing/2014/main" id="{971B7B40-A80D-08EE-66DE-1F770F95FE32}"/>
              </a:ext>
            </a:extLst>
          </p:cNvPr>
          <p:cNvSpPr>
            <a:spLocks noChangeAspect="1"/>
          </p:cNvSpPr>
          <p:nvPr/>
        </p:nvSpPr>
        <p:spPr>
          <a:xfrm>
            <a:off x="489348" y="1347219"/>
            <a:ext cx="360000" cy="360000"/>
          </a:xfrm>
          <a:prstGeom prst="roundRect">
            <a:avLst>
              <a:gd name="adj" fmla="val 20495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ru-RU" sz="1200" b="1" dirty="0" smtClean="0">
                <a:solidFill>
                  <a:schemeClr val="accent1"/>
                </a:solidFill>
                <a:latin typeface="SB Sans Display Semibold" panose="020B0503040504020204" pitchFamily="34" charset="0"/>
                <a:cs typeface="SB Sans Display Semibold" panose="020B0503040504020204" pitchFamily="34" charset="0"/>
              </a:rPr>
              <a:t>0</a:t>
            </a:r>
            <a:r>
              <a:rPr lang="ru-RU" sz="1200" b="1" dirty="0">
                <a:solidFill>
                  <a:schemeClr val="accent1"/>
                </a:solidFill>
                <a:latin typeface="SB Sans Display Semibold" panose="020B0503040504020204" pitchFamily="34" charset="0"/>
                <a:cs typeface="SB Sans Display Semibold" panose="020B0503040504020204" pitchFamily="34" charset="0"/>
              </a:rPr>
              <a:t>4</a:t>
            </a:r>
          </a:p>
        </p:txBody>
      </p:sp>
      <p:sp>
        <p:nvSpPr>
          <p:cNvPr id="105" name="TextBox 67">
            <a:extLst>
              <a:ext uri="{FF2B5EF4-FFF2-40B4-BE49-F238E27FC236}">
                <a16:creationId xmlns:a16="http://schemas.microsoft.com/office/drawing/2014/main" id="{14BE7C5B-08B9-2331-DA98-091946E45E47}"/>
              </a:ext>
            </a:extLst>
          </p:cNvPr>
          <p:cNvSpPr txBox="1"/>
          <p:nvPr/>
        </p:nvSpPr>
        <p:spPr>
          <a:xfrm>
            <a:off x="949946" y="1347219"/>
            <a:ext cx="6755844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ru-RU" sz="1200" b="1" dirty="0">
                <a:latin typeface="SB Sans Display Semibold" panose="020B0503040504020204" pitchFamily="34" charset="0"/>
                <a:cs typeface="SB Sans Display Semibold" panose="020B0503040504020204" pitchFamily="34" charset="0"/>
              </a:rPr>
              <a:t>Сложности при установке и настройке </a:t>
            </a:r>
            <a:r>
              <a:rPr lang="en" sz="1200" b="1" dirty="0">
                <a:latin typeface="SB Sans Display Semibold" panose="020B0503040504020204" pitchFamily="34" charset="0"/>
                <a:cs typeface="SB Sans Display Semibold" panose="020B0503040504020204" pitchFamily="34" charset="0"/>
              </a:rPr>
              <a:t>MCP-</a:t>
            </a:r>
            <a:r>
              <a:rPr lang="ru-RU" sz="1200" b="1" dirty="0">
                <a:latin typeface="SB Sans Display Semibold" panose="020B0503040504020204" pitchFamily="34" charset="0"/>
                <a:cs typeface="SB Sans Display Semibold" panose="020B0503040504020204" pitchFamily="34" charset="0"/>
              </a:rPr>
              <a:t>серверов </a:t>
            </a:r>
            <a:r>
              <a:rPr lang="ru-RU" sz="1200" b="1" dirty="0" smtClean="0">
                <a:latin typeface="SB Sans Display Semibold" panose="020B0503040504020204" pitchFamily="34" charset="0"/>
                <a:cs typeface="SB Sans Display Semibold" panose="020B0503040504020204" pitchFamily="34" charset="0"/>
              </a:rPr>
              <a:t>для </a:t>
            </a:r>
            <a:r>
              <a:rPr lang="en" sz="1200" b="1" dirty="0" err="1">
                <a:latin typeface="SB Sans Display Semibold" panose="020B0503040504020204" pitchFamily="34" charset="0"/>
                <a:cs typeface="SB Sans Display Semibold" panose="020B0503040504020204" pitchFamily="34" charset="0"/>
              </a:rPr>
              <a:t>GigaCode</a:t>
            </a:r>
            <a:endParaRPr lang="en" sz="1200" b="1" dirty="0">
              <a:latin typeface="SB Sans Display Semibold" panose="020B0503040504020204" pitchFamily="34" charset="0"/>
              <a:cs typeface="SB Sans Display Semibold" panose="020B0503040504020204" pitchFamily="34" charset="0"/>
            </a:endParaRPr>
          </a:p>
        </p:txBody>
      </p:sp>
      <p:sp>
        <p:nvSpPr>
          <p:cNvPr id="107" name="TextBox 11">
            <a:extLst>
              <a:ext uri="{FF2B5EF4-FFF2-40B4-BE49-F238E27FC236}">
                <a16:creationId xmlns:a16="http://schemas.microsoft.com/office/drawing/2014/main" id="{530AAF53-DFCF-5E01-2095-7BA981DCDBDD}"/>
              </a:ext>
            </a:extLst>
          </p:cNvPr>
          <p:cNvSpPr txBox="1"/>
          <p:nvPr/>
        </p:nvSpPr>
        <p:spPr>
          <a:xfrm>
            <a:off x="8450452" y="1347219"/>
            <a:ext cx="738985" cy="2154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lang="ru-RU" sz="1400" b="1" dirty="0" smtClean="0">
                <a:solidFill>
                  <a:srgbClr val="3A5A52"/>
                </a:solidFill>
                <a:latin typeface="SB Sans Display Semibold" panose="020B0503040504020204" pitchFamily="34" charset="0"/>
                <a:cs typeface="SB Sans Display Semibold" panose="020B0503040504020204" pitchFamily="34" charset="0"/>
              </a:rPr>
              <a:t>22</a:t>
            </a:r>
            <a:r>
              <a:rPr lang="ru-RU" sz="1400" dirty="0" smtClean="0">
                <a:solidFill>
                  <a:srgbClr val="3A5A52"/>
                </a:solidFill>
                <a:latin typeface="SB Sans Display" panose="020B0503040504020204" pitchFamily="34" charset="0"/>
                <a:cs typeface="SB Sans Display" panose="020B0503040504020204" pitchFamily="34" charset="0"/>
              </a:rPr>
              <a:t> </a:t>
            </a:r>
            <a:r>
              <a:rPr lang="ru-RU" sz="1400" dirty="0" err="1">
                <a:solidFill>
                  <a:srgbClr val="64748B"/>
                </a:solidFill>
                <a:latin typeface="SB Sans Display" panose="020B0503040504020204" pitchFamily="34" charset="0"/>
                <a:cs typeface="SB Sans Display" panose="020B0503040504020204" pitchFamily="34" charset="0"/>
              </a:rPr>
              <a:t>упом</a:t>
            </a:r>
            <a:r>
              <a:rPr lang="ru-RU" sz="1400" dirty="0">
                <a:solidFill>
                  <a:srgbClr val="64748B"/>
                </a:solidFill>
                <a:latin typeface="SB Sans Display" panose="020B0503040504020204" pitchFamily="34" charset="0"/>
                <a:cs typeface="SB Sans Display" panose="020B0503040504020204" pitchFamily="34" charset="0"/>
              </a:rPr>
              <a:t>.</a:t>
            </a:r>
          </a:p>
        </p:txBody>
      </p:sp>
      <p:sp>
        <p:nvSpPr>
          <p:cNvPr id="108" name="Скругленный прямоугольник 107">
            <a:extLst>
              <a:ext uri="{FF2B5EF4-FFF2-40B4-BE49-F238E27FC236}">
                <a16:creationId xmlns:a16="http://schemas.microsoft.com/office/drawing/2014/main" id="{069DBC5D-25CB-62D4-15CC-6C67CC5A6B22}"/>
              </a:ext>
            </a:extLst>
          </p:cNvPr>
          <p:cNvSpPr/>
          <p:nvPr/>
        </p:nvSpPr>
        <p:spPr>
          <a:xfrm>
            <a:off x="9931352" y="1347218"/>
            <a:ext cx="1800000" cy="1089065"/>
          </a:xfrm>
          <a:prstGeom prst="roundRect">
            <a:avLst>
              <a:gd name="adj" fmla="val 19327"/>
            </a:avLst>
          </a:prstGeom>
          <a:solidFill>
            <a:schemeClr val="accent1">
              <a:lumMod val="20000"/>
              <a:lumOff val="80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084B1E30-E5EB-73A5-54C6-B1FEB6BBC60D}"/>
              </a:ext>
            </a:extLst>
          </p:cNvPr>
          <p:cNvSpPr txBox="1"/>
          <p:nvPr/>
        </p:nvSpPr>
        <p:spPr>
          <a:xfrm>
            <a:off x="10206018" y="1768640"/>
            <a:ext cx="71525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000" dirty="0">
                <a:latin typeface="SB Sans Display Light" panose="020B0303040504020204" pitchFamily="34" charset="0"/>
                <a:cs typeface="SB Sans Display Light" panose="020B0303040504020204" pitchFamily="34" charset="0"/>
              </a:rPr>
              <a:t>4</a:t>
            </a:r>
            <a:r>
              <a:rPr lang="en-US" sz="1000" dirty="0">
                <a:latin typeface="SB Sans Display Light" panose="020B0303040504020204" pitchFamily="34" charset="0"/>
                <a:cs typeface="SB Sans Display Light" panose="020B0303040504020204" pitchFamily="34" charset="0"/>
              </a:rPr>
              <a:t>Q </a:t>
            </a:r>
            <a:r>
              <a:rPr lang="ru-RU" sz="1000" dirty="0">
                <a:latin typeface="SB Sans Display Light" panose="020B0303040504020204" pitchFamily="34" charset="0"/>
                <a:cs typeface="SB Sans Display Light" panose="020B0303040504020204" pitchFamily="34" charset="0"/>
              </a:rPr>
              <a:t>2026</a:t>
            </a:r>
          </a:p>
        </p:txBody>
      </p:sp>
      <p:pic>
        <p:nvPicPr>
          <p:cNvPr id="113" name="Рисунок 112">
            <a:extLst>
              <a:ext uri="{FF2B5EF4-FFF2-40B4-BE49-F238E27FC236}">
                <a16:creationId xmlns:a16="http://schemas.microsoft.com/office/drawing/2014/main" id="{F22D5BDA-23C6-6B7E-752F-1FFE640CE8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23063" y="1783750"/>
            <a:ext cx="216000" cy="216000"/>
          </a:xfrm>
          <a:prstGeom prst="rect">
            <a:avLst/>
          </a:prstGeom>
        </p:spPr>
      </p:pic>
      <p:sp>
        <p:nvSpPr>
          <p:cNvPr id="119" name="TextBox 118">
            <a:extLst>
              <a:ext uri="{FF2B5EF4-FFF2-40B4-BE49-F238E27FC236}">
                <a16:creationId xmlns:a16="http://schemas.microsoft.com/office/drawing/2014/main" id="{FC0867EB-9408-6CA0-800F-D01562CB9896}"/>
              </a:ext>
            </a:extLst>
          </p:cNvPr>
          <p:cNvSpPr txBox="1"/>
          <p:nvPr/>
        </p:nvSpPr>
        <p:spPr>
          <a:xfrm>
            <a:off x="951225" y="1696206"/>
            <a:ext cx="6751922" cy="7694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ru-RU" sz="1000" dirty="0">
                <a:solidFill>
                  <a:srgbClr val="64748B"/>
                </a:solidFill>
                <a:latin typeface="SB Sans Display Light" panose="020B0303040504020204" pitchFamily="34" charset="0"/>
                <a:cs typeface="SB Sans Display Light" panose="020B0303040504020204" pitchFamily="34" charset="0"/>
              </a:rPr>
              <a:t>«Подскажите, а как подключить </a:t>
            </a:r>
            <a:r>
              <a:rPr lang="ru-RU" sz="1000" dirty="0" err="1">
                <a:solidFill>
                  <a:srgbClr val="64748B"/>
                </a:solidFill>
                <a:latin typeface="SB Sans Display Light" panose="020B0303040504020204" pitchFamily="34" charset="0"/>
                <a:cs typeface="SB Sans Display Light" panose="020B0303040504020204" pitchFamily="34" charset="0"/>
              </a:rPr>
              <a:t>mcp-sbertrack</a:t>
            </a:r>
            <a:r>
              <a:rPr lang="ru-RU" sz="1000" dirty="0">
                <a:solidFill>
                  <a:srgbClr val="64748B"/>
                </a:solidFill>
                <a:latin typeface="SB Sans Display Light" panose="020B0303040504020204" pitchFamily="34" charset="0"/>
                <a:cs typeface="SB Sans Display Light" panose="020B0303040504020204" pitchFamily="34" charset="0"/>
              </a:rPr>
              <a:t>. Что то по инструкции из </a:t>
            </a:r>
            <a:r>
              <a:rPr lang="ru-RU" sz="1000" dirty="0" err="1">
                <a:solidFill>
                  <a:srgbClr val="64748B"/>
                </a:solidFill>
                <a:latin typeface="SB Sans Display Light" panose="020B0303040504020204" pitchFamily="34" charset="0"/>
                <a:cs typeface="SB Sans Display Light" panose="020B0303040504020204" pitchFamily="34" charset="0"/>
              </a:rPr>
              <a:t>ai_market</a:t>
            </a:r>
            <a:r>
              <a:rPr lang="ru-RU" sz="1000" dirty="0">
                <a:solidFill>
                  <a:srgbClr val="64748B"/>
                </a:solidFill>
                <a:latin typeface="SB Sans Display Light" panose="020B0303040504020204" pitchFamily="34" charset="0"/>
                <a:cs typeface="SB Sans Display Light" panose="020B0303040504020204" pitchFamily="34" charset="0"/>
              </a:rPr>
              <a:t> вообще не очевидно... Может кто-то уже подключил его себе и может поделиться </a:t>
            </a:r>
            <a:r>
              <a:rPr lang="ru-RU" sz="1000" dirty="0" smtClean="0">
                <a:solidFill>
                  <a:srgbClr val="64748B"/>
                </a:solidFill>
                <a:latin typeface="SB Sans Display Light" panose="020B0303040504020204" pitchFamily="34" charset="0"/>
                <a:cs typeface="SB Sans Display Light" panose="020B0303040504020204" pitchFamily="34" charset="0"/>
              </a:rPr>
              <a:t>опытом.»</a:t>
            </a:r>
          </a:p>
          <a:p>
            <a:endParaRPr lang="ru-RU" sz="1000" dirty="0" smtClean="0">
              <a:solidFill>
                <a:srgbClr val="64748B"/>
              </a:solidFill>
              <a:latin typeface="SB Sans Display Light" panose="020B0303040504020204" pitchFamily="34" charset="0"/>
              <a:cs typeface="SB Sans Display Light" panose="020B0303040504020204" pitchFamily="34" charset="0"/>
            </a:endParaRPr>
          </a:p>
          <a:p>
            <a:r>
              <a:rPr lang="ru-RU" sz="1000" dirty="0" smtClean="0">
                <a:solidFill>
                  <a:srgbClr val="64748B"/>
                </a:solidFill>
                <a:latin typeface="SB Sans Display Light" panose="020B0303040504020204" pitchFamily="34" charset="0"/>
                <a:cs typeface="SB Sans Display Light" panose="020B0303040504020204" pitchFamily="34" charset="0"/>
              </a:rPr>
              <a:t>«</a:t>
            </a:r>
            <a:r>
              <a:rPr lang="ru-RU" sz="1000" dirty="0">
                <a:solidFill>
                  <a:srgbClr val="64748B"/>
                </a:solidFill>
                <a:latin typeface="SB Sans Display Light" panose="020B0303040504020204" pitchFamily="34" charset="0"/>
                <a:cs typeface="SB Sans Display Light" panose="020B0303040504020204" pitchFamily="34" charset="0"/>
              </a:rPr>
              <a:t>По инструкции (https://onework.sigma.sbrf.ru/mapp/ai-disrupt/page/116335) подключаю </a:t>
            </a:r>
            <a:r>
              <a:rPr lang="ru-RU" sz="1000" dirty="0" err="1">
                <a:solidFill>
                  <a:srgbClr val="64748B"/>
                </a:solidFill>
                <a:latin typeface="SB Sans Display Light" panose="020B0303040504020204" pitchFamily="34" charset="0"/>
                <a:cs typeface="SB Sans Display Light" panose="020B0303040504020204" pitchFamily="34" charset="0"/>
              </a:rPr>
              <a:t>mcp</a:t>
            </a:r>
            <a:r>
              <a:rPr lang="ru-RU" sz="1000" dirty="0">
                <a:solidFill>
                  <a:srgbClr val="64748B"/>
                </a:solidFill>
                <a:latin typeface="SB Sans Display Light" panose="020B0303040504020204" pitchFamily="34" charset="0"/>
                <a:cs typeface="SB Sans Display Light" panose="020B0303040504020204" pitchFamily="34" charset="0"/>
              </a:rPr>
              <a:t> </a:t>
            </a:r>
            <a:r>
              <a:rPr lang="ru-RU" sz="1000" dirty="0" err="1">
                <a:solidFill>
                  <a:srgbClr val="64748B"/>
                </a:solidFill>
                <a:latin typeface="SB Sans Display Light" panose="020B0303040504020204" pitchFamily="34" charset="0"/>
                <a:cs typeface="SB Sans Display Light" panose="020B0303040504020204" pitchFamily="34" charset="0"/>
              </a:rPr>
              <a:t>jira</a:t>
            </a:r>
            <a:r>
              <a:rPr lang="ru-RU" sz="1000" dirty="0">
                <a:solidFill>
                  <a:srgbClr val="64748B"/>
                </a:solidFill>
                <a:latin typeface="SB Sans Display Light" panose="020B0303040504020204" pitchFamily="34" charset="0"/>
                <a:cs typeface="SB Sans Display Light" panose="020B0303040504020204" pitchFamily="34" charset="0"/>
              </a:rPr>
              <a:t> и </a:t>
            </a:r>
            <a:r>
              <a:rPr lang="ru-RU" sz="1000" dirty="0" err="1">
                <a:solidFill>
                  <a:srgbClr val="64748B"/>
                </a:solidFill>
                <a:latin typeface="SB Sans Display Light" panose="020B0303040504020204" pitchFamily="34" charset="0"/>
                <a:cs typeface="SB Sans Display Light" panose="020B0303040504020204" pitchFamily="34" charset="0"/>
              </a:rPr>
              <a:t>confluence</a:t>
            </a:r>
            <a:r>
              <a:rPr lang="ru-RU" sz="1000" dirty="0">
                <a:solidFill>
                  <a:srgbClr val="64748B"/>
                </a:solidFill>
                <a:latin typeface="SB Sans Display Light" panose="020B0303040504020204" pitchFamily="34" charset="0"/>
                <a:cs typeface="SB Sans Display Light" panose="020B0303040504020204" pitchFamily="34" charset="0"/>
              </a:rPr>
              <a:t> (</a:t>
            </a:r>
            <a:r>
              <a:rPr lang="ru-RU" sz="1000" dirty="0" err="1">
                <a:solidFill>
                  <a:srgbClr val="64748B"/>
                </a:solidFill>
                <a:latin typeface="SB Sans Display Light" panose="020B0303040504020204" pitchFamily="34" charset="0"/>
                <a:cs typeface="SB Sans Display Light" panose="020B0303040504020204" pitchFamily="34" charset="0"/>
              </a:rPr>
              <a:t>cli</a:t>
            </a:r>
            <a:r>
              <a:rPr lang="ru-RU" sz="1000" dirty="0">
                <a:solidFill>
                  <a:srgbClr val="64748B"/>
                </a:solidFill>
                <a:latin typeface="SB Sans Display Light" panose="020B0303040504020204" pitchFamily="34" charset="0"/>
                <a:cs typeface="SB Sans Display Light" panose="020B0303040504020204" pitchFamily="34" charset="0"/>
              </a:rPr>
              <a:t> версия : 26.9.64), но в /</a:t>
            </a:r>
            <a:r>
              <a:rPr lang="ru-RU" sz="1000" dirty="0" err="1">
                <a:solidFill>
                  <a:srgbClr val="64748B"/>
                </a:solidFill>
                <a:latin typeface="SB Sans Display Light" panose="020B0303040504020204" pitchFamily="34" charset="0"/>
                <a:cs typeface="SB Sans Display Light" panose="020B0303040504020204" pitchFamily="34" charset="0"/>
              </a:rPr>
              <a:t>mcp</a:t>
            </a:r>
            <a:r>
              <a:rPr lang="ru-RU" sz="1000" dirty="0">
                <a:solidFill>
                  <a:srgbClr val="64748B"/>
                </a:solidFill>
                <a:latin typeface="SB Sans Display Light" panose="020B0303040504020204" pitchFamily="34" charset="0"/>
                <a:cs typeface="SB Sans Display Light" panose="020B0303040504020204" pitchFamily="34" charset="0"/>
              </a:rPr>
              <a:t> они не подключаются. </a:t>
            </a:r>
            <a:r>
              <a:rPr lang="ru-RU" sz="1000" dirty="0" err="1">
                <a:solidFill>
                  <a:srgbClr val="64748B"/>
                </a:solidFill>
                <a:latin typeface="SB Sans Display Light" panose="020B0303040504020204" pitchFamily="34" charset="0"/>
                <a:cs typeface="SB Sans Display Light" panose="020B0303040504020204" pitchFamily="34" charset="0"/>
              </a:rPr>
              <a:t>debug</a:t>
            </a:r>
            <a:r>
              <a:rPr lang="ru-RU" sz="1000" dirty="0">
                <a:solidFill>
                  <a:srgbClr val="64748B"/>
                </a:solidFill>
                <a:latin typeface="SB Sans Display Light" panose="020B0303040504020204" pitchFamily="34" charset="0"/>
                <a:cs typeface="SB Sans Display Light" panose="020B0303040504020204" pitchFamily="34" charset="0"/>
              </a:rPr>
              <a:t> </a:t>
            </a:r>
            <a:r>
              <a:rPr lang="ru-RU" sz="1000" dirty="0" smtClean="0">
                <a:solidFill>
                  <a:srgbClr val="64748B"/>
                </a:solidFill>
                <a:latin typeface="SB Sans Display Light" panose="020B0303040504020204" pitchFamily="34" charset="0"/>
                <a:cs typeface="SB Sans Display Light" panose="020B0303040504020204" pitchFamily="34" charset="0"/>
              </a:rPr>
              <a:t>отправлю.»</a:t>
            </a:r>
            <a:endParaRPr lang="ru-RU" sz="1000" dirty="0">
              <a:solidFill>
                <a:srgbClr val="64748B"/>
              </a:solidFill>
              <a:latin typeface="SB Sans Display Light" panose="020B0303040504020204" pitchFamily="34" charset="0"/>
              <a:cs typeface="SB Sans Display Light" panose="020B0303040504020204" pitchFamily="34" charset="0"/>
            </a:endParaRPr>
          </a:p>
        </p:txBody>
      </p:sp>
      <p:sp>
        <p:nvSpPr>
          <p:cNvPr id="61" name="TextBox 2">
            <a:extLst>
              <a:ext uri="{FF2B5EF4-FFF2-40B4-BE49-F238E27FC236}">
                <a16:creationId xmlns:a16="http://schemas.microsoft.com/office/drawing/2014/main" id="{63F9A912-2794-6722-54A3-81EE4B2BCF02}"/>
              </a:ext>
            </a:extLst>
          </p:cNvPr>
          <p:cNvSpPr txBox="1"/>
          <p:nvPr/>
        </p:nvSpPr>
        <p:spPr>
          <a:xfrm>
            <a:off x="10380671" y="233055"/>
            <a:ext cx="1476366" cy="50783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r"/>
            <a:r>
              <a:rPr lang="ru-RU" sz="1100" dirty="0" smtClean="0">
                <a:solidFill>
                  <a:srgbClr val="64748B"/>
                </a:solidFill>
                <a:latin typeface="SB Sans Display"/>
              </a:rPr>
              <a:t>16</a:t>
            </a:r>
            <a:r>
              <a:rPr sz="1100" b="0" i="0" dirty="0" smtClean="0">
                <a:solidFill>
                  <a:srgbClr val="64748B"/>
                </a:solidFill>
                <a:latin typeface="SB Sans Display"/>
              </a:rPr>
              <a:t>.</a:t>
            </a:r>
            <a:r>
              <a:rPr lang="ru-RU" sz="1100" b="0" i="0" dirty="0" smtClean="0">
                <a:solidFill>
                  <a:srgbClr val="64748B"/>
                </a:solidFill>
                <a:latin typeface="SB Sans Display"/>
              </a:rPr>
              <a:t>10</a:t>
            </a:r>
            <a:r>
              <a:rPr sz="1100" b="0" i="0" dirty="0" smtClean="0">
                <a:solidFill>
                  <a:srgbClr val="64748B"/>
                </a:solidFill>
                <a:latin typeface="SB Sans Display"/>
              </a:rPr>
              <a:t>.2026</a:t>
            </a:r>
            <a:r>
              <a:rPr lang="ru-RU" sz="1100" b="0" i="0" dirty="0">
                <a:solidFill>
                  <a:srgbClr val="64748B"/>
                </a:solidFill>
                <a:latin typeface="SB Sans Display"/>
              </a:rPr>
              <a:t/>
            </a:r>
            <a:br>
              <a:rPr lang="ru-RU" sz="1100" b="0" i="0" dirty="0">
                <a:solidFill>
                  <a:srgbClr val="64748B"/>
                </a:solidFill>
                <a:latin typeface="SB Sans Display"/>
              </a:rPr>
            </a:br>
            <a:r>
              <a:rPr sz="1100" b="0" i="0" dirty="0" err="1">
                <a:solidFill>
                  <a:srgbClr val="64748B"/>
                </a:solidFill>
                <a:latin typeface="SB Sans Display"/>
              </a:rPr>
              <a:t>Период</a:t>
            </a:r>
            <a:r>
              <a:rPr sz="1100" b="0" i="0" dirty="0">
                <a:solidFill>
                  <a:srgbClr val="64748B"/>
                </a:solidFill>
                <a:latin typeface="SB Sans Display"/>
              </a:rPr>
              <a:t>: </a:t>
            </a:r>
            <a:r>
              <a:rPr lang="ru-RU" sz="1100" dirty="0" smtClean="0">
                <a:solidFill>
                  <a:srgbClr val="64748B"/>
                </a:solidFill>
                <a:latin typeface="SB Sans Display"/>
              </a:rPr>
              <a:t>09</a:t>
            </a:r>
            <a:r>
              <a:rPr sz="1100" b="0" i="0" dirty="0" smtClean="0">
                <a:solidFill>
                  <a:srgbClr val="64748B"/>
                </a:solidFill>
                <a:latin typeface="SB Sans Display"/>
              </a:rPr>
              <a:t>.</a:t>
            </a:r>
            <a:r>
              <a:rPr lang="ru-RU" sz="1100" b="0" i="0" dirty="0" smtClean="0">
                <a:solidFill>
                  <a:srgbClr val="64748B"/>
                </a:solidFill>
                <a:latin typeface="SB Sans Display"/>
              </a:rPr>
              <a:t>10</a:t>
            </a:r>
            <a:r>
              <a:rPr sz="1100" b="0" i="0" dirty="0" smtClean="0">
                <a:solidFill>
                  <a:srgbClr val="64748B"/>
                </a:solidFill>
                <a:latin typeface="SB Sans Display"/>
              </a:rPr>
              <a:t> </a:t>
            </a:r>
            <a:r>
              <a:rPr sz="1100" b="0" i="0" dirty="0">
                <a:solidFill>
                  <a:srgbClr val="64748B"/>
                </a:solidFill>
                <a:latin typeface="SB Sans Display"/>
              </a:rPr>
              <a:t>– </a:t>
            </a:r>
            <a:r>
              <a:rPr lang="ru-RU" sz="1100" dirty="0" smtClean="0">
                <a:solidFill>
                  <a:srgbClr val="64748B"/>
                </a:solidFill>
                <a:latin typeface="SB Sans Display"/>
              </a:rPr>
              <a:t>15</a:t>
            </a:r>
            <a:r>
              <a:rPr sz="1100" b="0" i="0" dirty="0" smtClean="0">
                <a:solidFill>
                  <a:srgbClr val="64748B"/>
                </a:solidFill>
                <a:latin typeface="SB Sans Display"/>
              </a:rPr>
              <a:t>.</a:t>
            </a:r>
            <a:r>
              <a:rPr lang="ru-RU" sz="1100" b="0" i="0" dirty="0" smtClean="0">
                <a:solidFill>
                  <a:srgbClr val="64748B"/>
                </a:solidFill>
                <a:latin typeface="SB Sans Display"/>
              </a:rPr>
              <a:t>1</a:t>
            </a:r>
            <a:r>
              <a:rPr sz="1100" b="0" i="0" dirty="0" smtClean="0">
                <a:solidFill>
                  <a:srgbClr val="64748B"/>
                </a:solidFill>
                <a:latin typeface="SB Sans Display"/>
              </a:rPr>
              <a:t>0</a:t>
            </a:r>
            <a:r>
              <a:rPr lang="ru-RU" sz="1100" b="0" i="0" dirty="0">
                <a:solidFill>
                  <a:srgbClr val="64748B"/>
                </a:solidFill>
                <a:latin typeface="SB Sans Display"/>
              </a:rPr>
              <a:t/>
            </a:r>
            <a:br>
              <a:rPr lang="ru-RU" sz="1100" b="0" i="0" dirty="0">
                <a:solidFill>
                  <a:srgbClr val="64748B"/>
                </a:solidFill>
                <a:latin typeface="SB Sans Display"/>
              </a:rPr>
            </a:br>
            <a:r>
              <a:rPr sz="1100" b="0" i="0" dirty="0">
                <a:solidFill>
                  <a:srgbClr val="64748B"/>
                </a:solidFill>
                <a:latin typeface="SB Sans Display"/>
              </a:rPr>
              <a:t>№ </a:t>
            </a:r>
            <a:r>
              <a:rPr lang="ru-RU" sz="1100" dirty="0" smtClean="0">
                <a:solidFill>
                  <a:srgbClr val="64748B"/>
                </a:solidFill>
                <a:latin typeface="SB Sans Display"/>
              </a:rPr>
              <a:t>20</a:t>
            </a:r>
            <a:endParaRPr sz="1100" b="0" i="0" dirty="0">
              <a:solidFill>
                <a:srgbClr val="64748B"/>
              </a:solidFill>
              <a:latin typeface="SB Sans Display"/>
            </a:endParaRPr>
          </a:p>
        </p:txBody>
      </p:sp>
      <p:pic>
        <p:nvPicPr>
          <p:cNvPr id="62" name="Рисунок 61">
            <a:extLst>
              <a:ext uri="{FF2B5EF4-FFF2-40B4-BE49-F238E27FC236}">
                <a16:creationId xmlns:a16="http://schemas.microsoft.com/office/drawing/2014/main" id="{3D7D6D4E-833E-010B-BFB5-8A9654AD332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11944" y="2946579"/>
            <a:ext cx="216000" cy="216000"/>
          </a:xfrm>
          <a:prstGeom prst="rect">
            <a:avLst/>
          </a:prstGeom>
        </p:spPr>
      </p:pic>
      <p:sp>
        <p:nvSpPr>
          <p:cNvPr id="66" name="TextBox 36">
            <a:extLst>
              <a:ext uri="{FF2B5EF4-FFF2-40B4-BE49-F238E27FC236}">
                <a16:creationId xmlns:a16="http://schemas.microsoft.com/office/drawing/2014/main" id="{DF99FBE0-EB72-9EE6-2CD4-B06042DE7633}"/>
              </a:ext>
            </a:extLst>
          </p:cNvPr>
          <p:cNvSpPr txBox="1"/>
          <p:nvPr/>
        </p:nvSpPr>
        <p:spPr>
          <a:xfrm>
            <a:off x="981042" y="918591"/>
            <a:ext cx="1136530" cy="16927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lang="en-US" sz="1100" b="1" dirty="0" smtClean="0">
                <a:solidFill>
                  <a:srgbClr val="0A0A0A"/>
                </a:solidFill>
                <a:latin typeface="SB Sans Display Semibold" panose="020B0503040504020204" pitchFamily="34" charset="0"/>
                <a:cs typeface="SB Sans Display Semibold" panose="020B0503040504020204" pitchFamily="34" charset="0"/>
              </a:rPr>
              <a:t>MCP </a:t>
            </a:r>
            <a:r>
              <a:rPr lang="ru-RU" sz="1100" b="1" dirty="0" smtClean="0">
                <a:solidFill>
                  <a:srgbClr val="0A0A0A"/>
                </a:solidFill>
                <a:latin typeface="SB Sans Display Semibold" panose="020B0503040504020204" pitchFamily="34" charset="0"/>
                <a:cs typeface="SB Sans Display Semibold" panose="020B0503040504020204" pitchFamily="34" charset="0"/>
              </a:rPr>
              <a:t>в</a:t>
            </a:r>
            <a:r>
              <a:rPr lang="en-US" sz="1100" b="1" dirty="0" smtClean="0">
                <a:solidFill>
                  <a:srgbClr val="0A0A0A"/>
                </a:solidFill>
                <a:latin typeface="SB Sans Display Semibold" panose="020B0503040504020204" pitchFamily="34" charset="0"/>
                <a:cs typeface="SB Sans Display Semibold" panose="020B0503040504020204" pitchFamily="34" charset="0"/>
              </a:rPr>
              <a:t> </a:t>
            </a:r>
            <a:r>
              <a:rPr lang="en-US" sz="1100" b="1" dirty="0" err="1" smtClean="0">
                <a:solidFill>
                  <a:srgbClr val="0A0A0A"/>
                </a:solidFill>
                <a:latin typeface="SB Sans Display Semibold" panose="020B0503040504020204" pitchFamily="34" charset="0"/>
                <a:cs typeface="SB Sans Display Semibold" panose="020B0503040504020204" pitchFamily="34" charset="0"/>
              </a:rPr>
              <a:t>GigaCode</a:t>
            </a:r>
            <a:endParaRPr lang="en-US" sz="1100" b="1" dirty="0">
              <a:solidFill>
                <a:srgbClr val="0A0A0A"/>
              </a:solidFill>
              <a:latin typeface="SB Sans Display Semibold" panose="020B0503040504020204" pitchFamily="34" charset="0"/>
              <a:cs typeface="SB Sans Display Semibold" panose="020B0503040504020204" pitchFamily="34" charset="0"/>
            </a:endParaRPr>
          </a:p>
        </p:txBody>
      </p:sp>
      <p:sp>
        <p:nvSpPr>
          <p:cNvPr id="67" name="Скругленный прямоугольник 66">
            <a:extLst>
              <a:ext uri="{FF2B5EF4-FFF2-40B4-BE49-F238E27FC236}">
                <a16:creationId xmlns:a16="http://schemas.microsoft.com/office/drawing/2014/main" id="{971B7B40-A80D-08EE-66DE-1F770F95FE32}"/>
              </a:ext>
            </a:extLst>
          </p:cNvPr>
          <p:cNvSpPr>
            <a:spLocks noChangeAspect="1"/>
          </p:cNvSpPr>
          <p:nvPr/>
        </p:nvSpPr>
        <p:spPr>
          <a:xfrm>
            <a:off x="489348" y="2564611"/>
            <a:ext cx="360000" cy="360000"/>
          </a:xfrm>
          <a:prstGeom prst="roundRect">
            <a:avLst>
              <a:gd name="adj" fmla="val 20495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ru-RU" sz="1200" b="1" dirty="0" smtClean="0">
                <a:solidFill>
                  <a:schemeClr val="accent1"/>
                </a:solidFill>
                <a:latin typeface="SB Sans Display Semibold" panose="020B0503040504020204" pitchFamily="34" charset="0"/>
                <a:cs typeface="SB Sans Display Semibold" panose="020B0503040504020204" pitchFamily="34" charset="0"/>
              </a:rPr>
              <a:t>0</a:t>
            </a:r>
            <a:r>
              <a:rPr lang="ru-RU" sz="1200" b="1" dirty="0">
                <a:solidFill>
                  <a:schemeClr val="accent1"/>
                </a:solidFill>
                <a:latin typeface="SB Sans Display Semibold" panose="020B0503040504020204" pitchFamily="34" charset="0"/>
                <a:cs typeface="SB Sans Display Semibold" panose="020B0503040504020204" pitchFamily="34" charset="0"/>
              </a:rPr>
              <a:t>5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14BE7C5B-08B9-2331-DA98-091946E45E47}"/>
              </a:ext>
            </a:extLst>
          </p:cNvPr>
          <p:cNvSpPr txBox="1"/>
          <p:nvPr/>
        </p:nvSpPr>
        <p:spPr>
          <a:xfrm>
            <a:off x="949946" y="2564611"/>
            <a:ext cx="6755844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ru-RU" sz="1200" b="1" dirty="0">
                <a:latin typeface="SB Sans Display Semibold" panose="020B0503040504020204" pitchFamily="34" charset="0"/>
                <a:cs typeface="SB Sans Display Semibold" panose="020B0503040504020204" pitchFamily="34" charset="0"/>
              </a:rPr>
              <a:t>Несовместимость версий </a:t>
            </a:r>
            <a:r>
              <a:rPr lang="ru-RU" sz="1200" b="1" dirty="0" err="1">
                <a:latin typeface="SB Sans Display Semibold" panose="020B0503040504020204" pitchFamily="34" charset="0"/>
                <a:cs typeface="SB Sans Display Semibold" panose="020B0503040504020204" pitchFamily="34" charset="0"/>
              </a:rPr>
              <a:t>GigaCode</a:t>
            </a:r>
            <a:r>
              <a:rPr lang="ru-RU" sz="1200" b="1" dirty="0">
                <a:latin typeface="SB Sans Display Semibold" panose="020B0503040504020204" pitchFamily="34" charset="0"/>
                <a:cs typeface="SB Sans Display Semibold" panose="020B0503040504020204" pitchFamily="34" charset="0"/>
              </a:rPr>
              <a:t> CLI и </a:t>
            </a:r>
            <a:r>
              <a:rPr lang="ru-RU" sz="1200" b="1" dirty="0" err="1">
                <a:latin typeface="SB Sans Display Semibold" panose="020B0503040504020204" pitchFamily="34" charset="0"/>
                <a:cs typeface="SB Sans Display Semibold" panose="020B0503040504020204" pitchFamily="34" charset="0"/>
              </a:rPr>
              <a:t>Desktop</a:t>
            </a:r>
            <a:r>
              <a:rPr lang="ru-RU" sz="1200" b="1" dirty="0">
                <a:latin typeface="SB Sans Display Semibold" panose="020B0503040504020204" pitchFamily="34" charset="0"/>
                <a:cs typeface="SB Sans Display Semibold" panose="020B0503040504020204" pitchFamily="34" charset="0"/>
              </a:rPr>
              <a:t> приводит к </a:t>
            </a:r>
            <a:r>
              <a:rPr lang="ru-RU" sz="1200" b="1" dirty="0" err="1">
                <a:latin typeface="SB Sans Display Semibold" panose="020B0503040504020204" pitchFamily="34" charset="0"/>
                <a:cs typeface="SB Sans Display Semibold" panose="020B0503040504020204" pitchFamily="34" charset="0"/>
              </a:rPr>
              <a:t>рассинхронизации</a:t>
            </a:r>
            <a:r>
              <a:rPr lang="ru-RU" sz="1200" b="1" dirty="0">
                <a:latin typeface="SB Sans Display Semibold" panose="020B0503040504020204" pitchFamily="34" charset="0"/>
                <a:cs typeface="SB Sans Display Semibold" panose="020B0503040504020204" pitchFamily="34" charset="0"/>
              </a:rPr>
              <a:t> хранилищ </a:t>
            </a:r>
            <a:r>
              <a:rPr lang="ru-RU" sz="1200" b="1" dirty="0" err="1">
                <a:latin typeface="SB Sans Display Semibold" panose="020B0503040504020204" pitchFamily="34" charset="0"/>
                <a:cs typeface="SB Sans Display Semibold" panose="020B0503040504020204" pitchFamily="34" charset="0"/>
              </a:rPr>
              <a:t>токенов</a:t>
            </a:r>
            <a:r>
              <a:rPr lang="ru-RU" sz="1200" b="1" dirty="0">
                <a:latin typeface="SB Sans Display Semibold" panose="020B0503040504020204" pitchFamily="34" charset="0"/>
                <a:cs typeface="SB Sans Display Semibold" panose="020B0503040504020204" pitchFamily="34" charset="0"/>
              </a:rPr>
              <a:t> MCP, вызывая ошибку авторизации 401</a:t>
            </a:r>
          </a:p>
        </p:txBody>
      </p:sp>
      <p:sp>
        <p:nvSpPr>
          <p:cNvPr id="69" name="TextBox 11">
            <a:extLst>
              <a:ext uri="{FF2B5EF4-FFF2-40B4-BE49-F238E27FC236}">
                <a16:creationId xmlns:a16="http://schemas.microsoft.com/office/drawing/2014/main" id="{530AAF53-DFCF-5E01-2095-7BA981DCDBDD}"/>
              </a:ext>
            </a:extLst>
          </p:cNvPr>
          <p:cNvSpPr txBox="1"/>
          <p:nvPr/>
        </p:nvSpPr>
        <p:spPr>
          <a:xfrm>
            <a:off x="8464269" y="2564611"/>
            <a:ext cx="711350" cy="2154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lang="ru-RU" sz="1400" b="1" dirty="0" smtClean="0">
                <a:solidFill>
                  <a:srgbClr val="3A5A52"/>
                </a:solidFill>
                <a:latin typeface="SB Sans Display Semibold" panose="020B0503040504020204" pitchFamily="34" charset="0"/>
                <a:cs typeface="SB Sans Display Semibold" panose="020B0503040504020204" pitchFamily="34" charset="0"/>
              </a:rPr>
              <a:t>16</a:t>
            </a:r>
            <a:r>
              <a:rPr lang="ru-RU" sz="1400" dirty="0" smtClean="0">
                <a:solidFill>
                  <a:srgbClr val="3A5A52"/>
                </a:solidFill>
                <a:latin typeface="SB Sans Display" panose="020B0503040504020204" pitchFamily="34" charset="0"/>
                <a:cs typeface="SB Sans Display" panose="020B0503040504020204" pitchFamily="34" charset="0"/>
              </a:rPr>
              <a:t> </a:t>
            </a:r>
            <a:r>
              <a:rPr lang="ru-RU" sz="1400" dirty="0" err="1">
                <a:solidFill>
                  <a:srgbClr val="64748B"/>
                </a:solidFill>
                <a:latin typeface="SB Sans Display" panose="020B0503040504020204" pitchFamily="34" charset="0"/>
                <a:cs typeface="SB Sans Display" panose="020B0503040504020204" pitchFamily="34" charset="0"/>
              </a:rPr>
              <a:t>упом</a:t>
            </a:r>
            <a:r>
              <a:rPr lang="ru-RU" sz="1400" dirty="0">
                <a:solidFill>
                  <a:srgbClr val="64748B"/>
                </a:solidFill>
                <a:latin typeface="SB Sans Display" panose="020B0503040504020204" pitchFamily="34" charset="0"/>
                <a:cs typeface="SB Sans Display" panose="020B0503040504020204" pitchFamily="34" charset="0"/>
              </a:rPr>
              <a:t>.</a:t>
            </a:r>
          </a:p>
        </p:txBody>
      </p:sp>
      <p:sp>
        <p:nvSpPr>
          <p:cNvPr id="70" name="Скругленный прямоугольник 69">
            <a:extLst>
              <a:ext uri="{FF2B5EF4-FFF2-40B4-BE49-F238E27FC236}">
                <a16:creationId xmlns:a16="http://schemas.microsoft.com/office/drawing/2014/main" id="{069DBC5D-25CB-62D4-15CC-6C67CC5A6B22}"/>
              </a:ext>
            </a:extLst>
          </p:cNvPr>
          <p:cNvSpPr/>
          <p:nvPr/>
        </p:nvSpPr>
        <p:spPr>
          <a:xfrm>
            <a:off x="9931352" y="2564611"/>
            <a:ext cx="1800000" cy="656764"/>
          </a:xfrm>
          <a:prstGeom prst="roundRect">
            <a:avLst>
              <a:gd name="adj" fmla="val 19327"/>
            </a:avLst>
          </a:prstGeom>
          <a:solidFill>
            <a:schemeClr val="accent1">
              <a:lumMod val="20000"/>
              <a:lumOff val="80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084B1E30-E5EB-73A5-54C6-B1FEB6BBC60D}"/>
              </a:ext>
            </a:extLst>
          </p:cNvPr>
          <p:cNvSpPr txBox="1"/>
          <p:nvPr/>
        </p:nvSpPr>
        <p:spPr>
          <a:xfrm>
            <a:off x="9933455" y="2692938"/>
            <a:ext cx="179579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000" dirty="0" smtClean="0">
                <a:latin typeface="SB Sans Display Light" panose="020B0303040504020204" pitchFamily="34" charset="0"/>
                <a:cs typeface="SB Sans Display Light" panose="020B0303040504020204" pitchFamily="34" charset="0"/>
              </a:rPr>
              <a:t>В работе у </a:t>
            </a:r>
          </a:p>
          <a:p>
            <a:pPr algn="ctr"/>
            <a:r>
              <a:rPr lang="ru-RU" sz="1000" dirty="0" smtClean="0">
                <a:latin typeface="SB Sans Display Light" panose="020B0303040504020204" pitchFamily="34" charset="0"/>
                <a:cs typeface="SB Sans Display Light" panose="020B0303040504020204" pitchFamily="34" charset="0"/>
              </a:rPr>
              <a:t>команды продукта</a:t>
            </a:r>
            <a:endParaRPr lang="ru-RU" sz="1000" dirty="0">
              <a:latin typeface="SB Sans Display Light" panose="020B0303040504020204" pitchFamily="34" charset="0"/>
              <a:cs typeface="SB Sans Display Light" panose="020B0303040504020204" pitchFamily="34" charset="0"/>
            </a:endParaRP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FC0867EB-9408-6CA0-800F-D01562CB9896}"/>
              </a:ext>
            </a:extLst>
          </p:cNvPr>
          <p:cNvSpPr txBox="1"/>
          <p:nvPr/>
        </p:nvSpPr>
        <p:spPr>
          <a:xfrm>
            <a:off x="951225" y="2995894"/>
            <a:ext cx="6751922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ru-RU" sz="1000" dirty="0">
                <a:solidFill>
                  <a:srgbClr val="64748B"/>
                </a:solidFill>
                <a:latin typeface="SB Sans Display Light" panose="020B0303040504020204" pitchFamily="34" charset="0"/>
                <a:cs typeface="SB Sans Display Light" panose="020B0303040504020204" pitchFamily="34" charset="0"/>
              </a:rPr>
              <a:t>«В </a:t>
            </a:r>
            <a:r>
              <a:rPr lang="ru-RU" sz="1000" dirty="0" err="1">
                <a:solidFill>
                  <a:srgbClr val="64748B"/>
                </a:solidFill>
                <a:latin typeface="SB Sans Display Light" panose="020B0303040504020204" pitchFamily="34" charset="0"/>
                <a:cs typeface="SB Sans Display Light" panose="020B0303040504020204" pitchFamily="34" charset="0"/>
              </a:rPr>
              <a:t>cli</a:t>
            </a:r>
            <a:r>
              <a:rPr lang="ru-RU" sz="1000" dirty="0">
                <a:solidFill>
                  <a:srgbClr val="64748B"/>
                </a:solidFill>
                <a:latin typeface="SB Sans Display Light" panose="020B0303040504020204" pitchFamily="34" charset="0"/>
                <a:cs typeface="SB Sans Display Light" panose="020B0303040504020204" pitchFamily="34" charset="0"/>
              </a:rPr>
              <a:t> и </a:t>
            </a:r>
            <a:r>
              <a:rPr lang="ru-RU" sz="1000" dirty="0" err="1">
                <a:solidFill>
                  <a:srgbClr val="64748B"/>
                </a:solidFill>
                <a:latin typeface="SB Sans Display Light" panose="020B0303040504020204" pitchFamily="34" charset="0"/>
                <a:cs typeface="SB Sans Display Light" panose="020B0303040504020204" pitchFamily="34" charset="0"/>
              </a:rPr>
              <a:t>gigacode</a:t>
            </a:r>
            <a:r>
              <a:rPr lang="ru-RU" sz="1000" dirty="0">
                <a:solidFill>
                  <a:srgbClr val="64748B"/>
                </a:solidFill>
                <a:latin typeface="SB Sans Display Light" panose="020B0303040504020204" pitchFamily="34" charset="0"/>
                <a:cs typeface="SB Sans Display Light" panose="020B0303040504020204" pitchFamily="34" charset="0"/>
              </a:rPr>
              <a:t> </a:t>
            </a:r>
            <a:r>
              <a:rPr lang="ru-RU" sz="1000" dirty="0" err="1">
                <a:solidFill>
                  <a:srgbClr val="64748B"/>
                </a:solidFill>
                <a:latin typeface="SB Sans Display Light" panose="020B0303040504020204" pitchFamily="34" charset="0"/>
                <a:cs typeface="SB Sans Display Light" panose="020B0303040504020204" pitchFamily="34" charset="0"/>
              </a:rPr>
              <a:t>mcp</a:t>
            </a:r>
            <a:r>
              <a:rPr lang="ru-RU" sz="1000" dirty="0">
                <a:solidFill>
                  <a:srgbClr val="64748B"/>
                </a:solidFill>
                <a:latin typeface="SB Sans Display Light" panose="020B0303040504020204" pitchFamily="34" charset="0"/>
                <a:cs typeface="SB Sans Display Light" panose="020B0303040504020204" pitchFamily="34" charset="0"/>
              </a:rPr>
              <a:t> работают нормально, но в </a:t>
            </a:r>
            <a:r>
              <a:rPr lang="ru-RU" sz="1000" dirty="0" err="1">
                <a:solidFill>
                  <a:srgbClr val="64748B"/>
                </a:solidFill>
                <a:latin typeface="SB Sans Display Light" panose="020B0303040504020204" pitchFamily="34" charset="0"/>
                <a:cs typeface="SB Sans Display Light" panose="020B0303040504020204" pitchFamily="34" charset="0"/>
              </a:rPr>
              <a:t>desktop</a:t>
            </a:r>
            <a:r>
              <a:rPr lang="ru-RU" sz="1000" dirty="0">
                <a:solidFill>
                  <a:srgbClr val="64748B"/>
                </a:solidFill>
                <a:latin typeface="SB Sans Display Light" panose="020B0303040504020204" pitchFamily="34" charset="0"/>
                <a:cs typeface="SB Sans Display Light" panose="020B0303040504020204" pitchFamily="34" charset="0"/>
              </a:rPr>
              <a:t> ошибка авторизации, замена </a:t>
            </a:r>
            <a:r>
              <a:rPr lang="ru-RU" sz="1000" dirty="0" err="1">
                <a:solidFill>
                  <a:srgbClr val="64748B"/>
                </a:solidFill>
                <a:latin typeface="SB Sans Display Light" panose="020B0303040504020204" pitchFamily="34" charset="0"/>
                <a:cs typeface="SB Sans Display Light" panose="020B0303040504020204" pitchFamily="34" charset="0"/>
              </a:rPr>
              <a:t>токена</a:t>
            </a:r>
            <a:r>
              <a:rPr lang="ru-RU" sz="1000" dirty="0">
                <a:solidFill>
                  <a:srgbClr val="64748B"/>
                </a:solidFill>
                <a:latin typeface="SB Sans Display Light" panose="020B0303040504020204" pitchFamily="34" charset="0"/>
                <a:cs typeface="SB Sans Display Light" panose="020B0303040504020204" pitchFamily="34" charset="0"/>
              </a:rPr>
              <a:t> в настройках и перезапуск не помогают, в чем может быть дело</a:t>
            </a:r>
            <a:r>
              <a:rPr lang="ru-RU" sz="1000" dirty="0" smtClean="0">
                <a:solidFill>
                  <a:srgbClr val="64748B"/>
                </a:solidFill>
                <a:latin typeface="SB Sans Display Light" panose="020B0303040504020204" pitchFamily="34" charset="0"/>
                <a:cs typeface="SB Sans Display Light" panose="020B0303040504020204" pitchFamily="34" charset="0"/>
              </a:rPr>
              <a:t>?»</a:t>
            </a:r>
            <a:endParaRPr lang="ru-RU" sz="1000" dirty="0">
              <a:solidFill>
                <a:srgbClr val="64748B"/>
              </a:solidFill>
              <a:latin typeface="SB Sans Display Light" panose="020B0303040504020204" pitchFamily="34" charset="0"/>
              <a:cs typeface="SB Sans Display Light" panose="020B0303040504020204" pitchFamily="34" charset="0"/>
            </a:endParaRP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F754EA60-897A-A102-5011-0F112C8FE4B7}"/>
              </a:ext>
            </a:extLst>
          </p:cNvPr>
          <p:cNvSpPr txBox="1"/>
          <p:nvPr/>
        </p:nvSpPr>
        <p:spPr bwMode="auto">
          <a:xfrm>
            <a:off x="8396745" y="1585741"/>
            <a:ext cx="846399" cy="310889"/>
          </a:xfrm>
          <a:prstGeom prst="roundRect">
            <a:avLst>
              <a:gd name="adj" fmla="val 50000"/>
            </a:avLst>
          </a:prstGeom>
          <a:solidFill>
            <a:schemeClr val="accent3">
              <a:lumMod val="20000"/>
              <a:lumOff val="80000"/>
              <a:alpha val="40000"/>
            </a:schemeClr>
          </a:solidFill>
          <a:ln w="12700">
            <a:solidFill>
              <a:schemeClr val="accent3"/>
            </a:solidFill>
          </a:ln>
          <a:effectLst/>
        </p:spPr>
        <p:txBody>
          <a:bodyPr vertOverflow="overflow" horzOverflow="overflow" vert="horz" wrap="none" lIns="108000" tIns="0" rIns="108000" bIns="0" numCol="1" spcCol="0" rtlCol="0" fromWordArt="0" anchor="ctr" anchorCtr="0" forceAA="0" compatLnSpc="0">
            <a:spAutoFit/>
          </a:bodyPr>
          <a:lstStyle>
            <a:defPPr>
              <a:defRPr lang="ru-RU"/>
            </a:defPPr>
            <a:lvl1pPr algn="ctr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200">
                <a:solidFill>
                  <a:schemeClr val="accent2"/>
                </a:solidFill>
                <a:latin typeface="SB Sans Display"/>
                <a:cs typeface="SB Sans Display"/>
              </a:defRPr>
            </a:lvl1pPr>
            <a:lvl2pPr marL="742950" indent="-285750">
              <a:defRPr>
                <a:latin typeface="SB Sans Display"/>
                <a:cs typeface="Arial"/>
              </a:defRPr>
            </a:lvl2pPr>
            <a:lvl3pPr marL="1143000" indent="-228600">
              <a:defRPr>
                <a:latin typeface="SB Sans Display"/>
                <a:cs typeface="Arial"/>
              </a:defRPr>
            </a:lvl3pPr>
            <a:lvl4pPr marL="1600200" indent="-228600">
              <a:defRPr>
                <a:latin typeface="SB Sans Display"/>
                <a:cs typeface="Arial"/>
              </a:defRPr>
            </a:lvl4pPr>
            <a:lvl5pPr marL="2057400" indent="-228600">
              <a:defRPr>
                <a:latin typeface="SB Sans Display"/>
                <a:cs typeface="Arial"/>
              </a:defRPr>
            </a:lvl5pPr>
            <a:lvl6pPr marL="2514600" indent="-228600">
              <a:spcBef>
                <a:spcPts val="0"/>
              </a:spcBef>
              <a:spcAft>
                <a:spcPts val="0"/>
              </a:spcAft>
              <a:defRPr>
                <a:latin typeface="SB Sans Display"/>
                <a:cs typeface="Arial"/>
              </a:defRPr>
            </a:lvl6pPr>
            <a:lvl7pPr marL="2971800" indent="-228600">
              <a:spcBef>
                <a:spcPts val="0"/>
              </a:spcBef>
              <a:spcAft>
                <a:spcPts val="0"/>
              </a:spcAft>
              <a:defRPr>
                <a:latin typeface="SB Sans Display"/>
                <a:cs typeface="Arial"/>
              </a:defRPr>
            </a:lvl7pPr>
            <a:lvl8pPr marL="3429000" indent="-228600">
              <a:spcBef>
                <a:spcPts val="0"/>
              </a:spcBef>
              <a:spcAft>
                <a:spcPts val="0"/>
              </a:spcAft>
              <a:defRPr>
                <a:latin typeface="SB Sans Display"/>
                <a:cs typeface="Arial"/>
              </a:defRPr>
            </a:lvl8pPr>
            <a:lvl9pPr marL="3886200" indent="-228600">
              <a:spcBef>
                <a:spcPts val="0"/>
              </a:spcBef>
              <a:spcAft>
                <a:spcPts val="0"/>
              </a:spcAft>
              <a:defRPr>
                <a:latin typeface="SB Sans Display"/>
                <a:cs typeface="Arial"/>
              </a:defRPr>
            </a:lvl9pPr>
          </a:lstStyle>
          <a:p>
            <a:pPr>
              <a:defRPr/>
            </a:pPr>
            <a:r>
              <a:rPr lang="ru-RU" b="1" dirty="0">
                <a:solidFill>
                  <a:srgbClr val="0FB880"/>
                </a:solidFill>
              </a:rPr>
              <a:t>▼</a:t>
            </a:r>
            <a:r>
              <a:rPr lang="ru-RU" dirty="0">
                <a:solidFill>
                  <a:schemeClr val="accent3"/>
                </a:solidFill>
              </a:rPr>
              <a:t> </a:t>
            </a:r>
            <a:r>
              <a:rPr lang="ru-RU" sz="1400" b="1" dirty="0" smtClean="0">
                <a:solidFill>
                  <a:schemeClr val="accent3"/>
                </a:solidFill>
                <a:latin typeface="SB Sans Display" panose="020B0503040504020204" pitchFamily="34" charset="0"/>
                <a:cs typeface="SB Sans Display" panose="020B0503040504020204" pitchFamily="34" charset="0"/>
              </a:rPr>
              <a:t>-</a:t>
            </a:r>
            <a:r>
              <a:rPr lang="ru-RU" sz="1400" b="1" dirty="0">
                <a:solidFill>
                  <a:schemeClr val="accent3"/>
                </a:solidFill>
                <a:latin typeface="SB Sans Display" panose="020B0503040504020204" pitchFamily="34" charset="0"/>
                <a:cs typeface="SB Sans Display" panose="020B0503040504020204" pitchFamily="34" charset="0"/>
              </a:rPr>
              <a:t>8</a:t>
            </a:r>
            <a:r>
              <a:rPr lang="ru-RU" sz="1400" b="1" dirty="0" smtClean="0">
                <a:solidFill>
                  <a:schemeClr val="accent3"/>
                </a:solidFill>
                <a:latin typeface="SB Sans Display" panose="020B0503040504020204" pitchFamily="34" charset="0"/>
                <a:cs typeface="SB Sans Display" panose="020B0503040504020204" pitchFamily="34" charset="0"/>
              </a:rPr>
              <a:t>%</a:t>
            </a:r>
            <a:endParaRPr sz="1400" b="1" dirty="0">
              <a:latin typeface="SB Sans Display" panose="020B0503040504020204" pitchFamily="34" charset="0"/>
              <a:cs typeface="SB Sans Display" panose="020B050304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234290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Пользовательские 3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489FF"/>
      </a:accent1>
      <a:accent2>
        <a:srgbClr val="815FFE"/>
      </a:accent2>
      <a:accent3>
        <a:srgbClr val="05B394"/>
      </a:accent3>
      <a:accent4>
        <a:srgbClr val="FF9200"/>
      </a:accent4>
      <a:accent5>
        <a:srgbClr val="00BB51"/>
      </a:accent5>
      <a:accent6>
        <a:srgbClr val="FC484A"/>
      </a:accent6>
      <a:hlink>
        <a:srgbClr val="505DAD"/>
      </a:hlink>
      <a:folHlink>
        <a:srgbClr val="57ACF9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20066</TotalTime>
  <Words>491</Words>
  <Application>Microsoft Office PowerPoint</Application>
  <PresentationFormat>Широкоэкранный</PresentationFormat>
  <Paragraphs>69</Paragraphs>
  <Slides>2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</vt:i4>
      </vt:variant>
    </vt:vector>
  </HeadingPairs>
  <TitlesOfParts>
    <vt:vector size="8" baseType="lpstr">
      <vt:lpstr>Arial</vt:lpstr>
      <vt:lpstr>Calibri</vt:lpstr>
      <vt:lpstr>SB Sans Display</vt:lpstr>
      <vt:lpstr>SB Sans Display Light</vt:lpstr>
      <vt:lpstr>SB Sans Display Semibold</vt:lpstr>
      <vt:lpstr>Тема Office</vt:lpstr>
      <vt:lpstr>Голос IT: дайджест для программы AI PDLC</vt:lpstr>
      <vt:lpstr>Голос IT: дайджест для программы AI PDLC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Голос IT: дайджест для программы AI PDLC</dc:title>
  <dc:creator>Станкович Милена Предраговна</dc:creator>
  <cp:lastModifiedBy>Панина Елена Викторовна</cp:lastModifiedBy>
  <cp:revision>316</cp:revision>
  <dcterms:created xsi:type="dcterms:W3CDTF">2026-07-24T10:23:43Z</dcterms:created>
  <dcterms:modified xsi:type="dcterms:W3CDTF">2026-10-21T07:13:54Z</dcterms:modified>
</cp:coreProperties>
</file>